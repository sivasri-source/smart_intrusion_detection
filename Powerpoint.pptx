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30"/>
  </p:notesMasterIdLst>
  <p:sldIdLst>
    <p:sldId id="256" r:id="rId2"/>
    <p:sldId id="343" r:id="rId3"/>
    <p:sldId id="257" r:id="rId4"/>
    <p:sldId id="344" r:id="rId5"/>
    <p:sldId id="322" r:id="rId6"/>
    <p:sldId id="345" r:id="rId7"/>
    <p:sldId id="392" r:id="rId8"/>
    <p:sldId id="393" r:id="rId9"/>
    <p:sldId id="394" r:id="rId10"/>
    <p:sldId id="323" r:id="rId11"/>
    <p:sldId id="324" r:id="rId12"/>
    <p:sldId id="325" r:id="rId13"/>
    <p:sldId id="326" r:id="rId14"/>
    <p:sldId id="446" r:id="rId15"/>
    <p:sldId id="447" r:id="rId16"/>
    <p:sldId id="425" r:id="rId17"/>
    <p:sldId id="426" r:id="rId18"/>
    <p:sldId id="427" r:id="rId19"/>
    <p:sldId id="428" r:id="rId20"/>
    <p:sldId id="429" r:id="rId21"/>
    <p:sldId id="430" r:id="rId22"/>
    <p:sldId id="432" r:id="rId23"/>
    <p:sldId id="359" r:id="rId24"/>
    <p:sldId id="360" r:id="rId25"/>
    <p:sldId id="362" r:id="rId26"/>
    <p:sldId id="363" r:id="rId27"/>
    <p:sldId id="372" r:id="rId28"/>
    <p:sldId id="28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34" autoAdjust="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CE501F-CD1C-4216-AE69-36E606679034}" type="datetimeFigureOut">
              <a:rPr lang="en-IN" smtClean="0"/>
              <a:t>03-05-2025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FFE07-7815-44DB-B341-7D7708DAFEF0}" type="slidenum">
              <a:rPr lang="en-IN" smtClean="0"/>
              <a:t>‹#›</a:t>
            </a:fld>
            <a:endParaRPr lang="en-IN"/>
          </a:p>
        </p:txBody>
      </p:sp>
    </p:spTree>
    <p:extLst>
      <p:ext uri="{BB962C8B-B14F-4D97-AF65-F5344CB8AC3E}">
        <p14:creationId xmlns:p14="http://schemas.microsoft.com/office/powerpoint/2010/main" val="177909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80FFE07-7815-44DB-B341-7D7708DAFEF0}" type="slidenum">
              <a:rPr lang="en-IN" smtClean="0"/>
              <a:t>17</a:t>
            </a:fld>
            <a:endParaRPr lang="en-IN"/>
          </a:p>
        </p:txBody>
      </p:sp>
    </p:spTree>
    <p:extLst>
      <p:ext uri="{BB962C8B-B14F-4D97-AF65-F5344CB8AC3E}">
        <p14:creationId xmlns:p14="http://schemas.microsoft.com/office/powerpoint/2010/main" val="3907622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80FFE07-7815-44DB-B341-7D7708DAFEF0}" type="slidenum">
              <a:rPr lang="en-IN" smtClean="0"/>
              <a:t>19</a:t>
            </a:fld>
            <a:endParaRPr lang="en-IN"/>
          </a:p>
        </p:txBody>
      </p:sp>
    </p:spTree>
    <p:extLst>
      <p:ext uri="{BB962C8B-B14F-4D97-AF65-F5344CB8AC3E}">
        <p14:creationId xmlns:p14="http://schemas.microsoft.com/office/powerpoint/2010/main" val="2882620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656275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62149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753464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C61B8BA-8C01-4062-BDEE-CF2683840E9A}"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211673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C61B8BA-8C01-4062-BDEE-CF2683840E9A}" type="datetimeFigureOut">
              <a:rPr lang="en-IN" smtClean="0"/>
              <a:t>03-05-2025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477118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C61B8BA-8C01-4062-BDEE-CF2683840E9A}" type="datetimeFigureOut">
              <a:rPr lang="en-IN" smtClean="0"/>
              <a:t>03-05-2025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4193945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61B8BA-8C01-4062-BDEE-CF2683840E9A}" type="datetimeFigureOut">
              <a:rPr lang="en-IN" smtClean="0"/>
              <a:t>03-05-2025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78182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310908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09983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59002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930604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61B8BA-8C01-4062-BDEE-CF2683840E9A}" type="datetimeFigureOut">
              <a:rPr lang="en-IN" smtClean="0"/>
              <a:t>03-05-2025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A2DE6C-0E8E-4FF2-9EF3-9145EE6F7FF6}" type="slidenum">
              <a:rPr lang="en-IN" smtClean="0"/>
              <a:t>‹#›</a:t>
            </a:fld>
            <a:endParaRPr lang="en-IN"/>
          </a:p>
        </p:txBody>
      </p:sp>
    </p:spTree>
    <p:extLst>
      <p:ext uri="{BB962C8B-B14F-4D97-AF65-F5344CB8AC3E}">
        <p14:creationId xmlns:p14="http://schemas.microsoft.com/office/powerpoint/2010/main" val="386602345"/>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7373" y="1575808"/>
            <a:ext cx="11658600" cy="2387600"/>
          </a:xfrm>
        </p:spPr>
        <p:txBody>
          <a:bodyPr>
            <a:normAutofit/>
          </a:bodyPr>
          <a:lstStyle/>
          <a:p>
            <a:r>
              <a:rPr lang="en-US" sz="3600" dirty="0">
                <a:latin typeface="Times New Roman" panose="02020603050405020304" pitchFamily="18" charset="0"/>
                <a:cs typeface="Times New Roman" panose="02020603050405020304" pitchFamily="18" charset="0"/>
              </a:rPr>
              <a:t> </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AI POWERED HONEYPOTS FOR ADVANCE THREAT DETECTION AND ANALYSIS</a:t>
            </a:r>
            <a:endParaRPr lang="en-IN" sz="36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500473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5705" y="12697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aphicFrame>
        <p:nvGraphicFramePr>
          <p:cNvPr id="5" name="Table 4"/>
          <p:cNvGraphicFramePr>
            <a:graphicFrameLocks noGrp="1"/>
          </p:cNvGraphicFramePr>
          <p:nvPr>
            <p:extLst>
              <p:ext uri="{D42A27DB-BD31-4B8C-83A1-F6EECF244321}">
                <p14:modId xmlns:p14="http://schemas.microsoft.com/office/powerpoint/2010/main" val="2768866949"/>
              </p:ext>
            </p:extLst>
          </p:nvPr>
        </p:nvGraphicFramePr>
        <p:xfrm>
          <a:off x="477527" y="476517"/>
          <a:ext cx="11036187" cy="5839028"/>
        </p:xfrm>
        <a:graphic>
          <a:graphicData uri="http://schemas.openxmlformats.org/drawingml/2006/table">
            <a:tbl>
              <a:tblPr firstRow="1" bandRow="1">
                <a:tableStyleId>{5940675A-B579-460E-94D1-54222C63F5DA}</a:tableStyleId>
              </a:tblPr>
              <a:tblGrid>
                <a:gridCol w="3678729"/>
                <a:gridCol w="3678729"/>
                <a:gridCol w="3678729"/>
              </a:tblGrid>
              <a:tr h="617371">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ABSTRACT</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SYSTEM  ARCHITECTURE</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HARDWARE</a:t>
                      </a:r>
                      <a:r>
                        <a:rPr lang="en-IN" sz="1800" b="1" baseline="0" dirty="0" smtClean="0">
                          <a:latin typeface="Times New Roman" panose="02020603050405020304" pitchFamily="18" charset="0"/>
                          <a:cs typeface="Times New Roman" panose="02020603050405020304" pitchFamily="18" charset="0"/>
                        </a:rPr>
                        <a:t> /SOFTWARE </a:t>
                      </a:r>
                      <a:r>
                        <a:rPr lang="en-IN" sz="1800" b="1" dirty="0" smtClean="0">
                          <a:latin typeface="Times New Roman" panose="02020603050405020304" pitchFamily="18" charset="0"/>
                          <a:cs typeface="Times New Roman" panose="02020603050405020304" pitchFamily="18" charset="0"/>
                        </a:rPr>
                        <a:t>REQUIREMENT </a:t>
                      </a:r>
                      <a:endParaRPr lang="en-IN" dirty="0" smtClean="0"/>
                    </a:p>
                  </a:txBody>
                  <a:tcPr/>
                </a:tc>
              </a:tr>
              <a:tr h="617371">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DOMAIN INTRODUCTION</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FLOWCHART</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SCOPE PROJECT</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smtClean="0"/>
                    </a:p>
                  </a:txBody>
                  <a:tcPr/>
                </a:tc>
              </a:tr>
              <a:tr h="617371">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INTRODUCTION</a:t>
                      </a:r>
                      <a:endParaRPr lang="en-IN" dirty="0" smtClean="0"/>
                    </a:p>
                    <a:p>
                      <a:pPr marL="0" indent="0">
                        <a:buFont typeface="+mj-lt"/>
                        <a:buNone/>
                      </a:pP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USECASE- DIAGRAM </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CONCLUSION </a:t>
                      </a:r>
                      <a:endParaRPr lang="en-IN" dirty="0"/>
                    </a:p>
                  </a:txBody>
                  <a:tcPr/>
                </a:tc>
              </a:tr>
              <a:tr h="617371">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OBJECTIVES</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ER DIAGRAM </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FUTURE ENCHANCEMENT </a:t>
                      </a:r>
                      <a:endParaRPr lang="en-IN" dirty="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EXISTING SYSTEM</a:t>
                      </a:r>
                    </a:p>
                    <a:p>
                      <a:pPr marL="0" marR="0" indent="0" algn="l" defTabSz="914400" rtl="0" eaLnBrk="1" fontAlgn="auto" latinLnBrk="0" hangingPunct="1">
                        <a:lnSpc>
                          <a:spcPct val="100000"/>
                        </a:lnSpc>
                        <a:spcBef>
                          <a:spcPts val="0"/>
                        </a:spcBef>
                        <a:spcAft>
                          <a:spcPts val="0"/>
                        </a:spcAft>
                        <a:buClrTx/>
                        <a:buSzTx/>
                        <a:buFont typeface="+mj-lt"/>
                        <a:buNone/>
                        <a:tabLst/>
                        <a:defRPr/>
                      </a:pP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SEQUENCE DIAGRAM</a:t>
                      </a:r>
                      <a:endParaRPr lang="en-IN" sz="1800" dirty="0" smtClean="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PROBLEM STATEMENT</a:t>
                      </a:r>
                      <a:endParaRPr lang="en-IN" dirty="0" smtClean="0"/>
                    </a:p>
                  </a:txBody>
                  <a:tcPr/>
                </a:tc>
              </a:tr>
              <a:tr h="644072">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DISADAVANTAGE</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MODULES </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SAMPLE</a:t>
                      </a:r>
                      <a:r>
                        <a:rPr lang="en-US" sz="1800" b="1" baseline="0" dirty="0" smtClean="0">
                          <a:latin typeface="Times New Roman" panose="02020603050405020304" pitchFamily="18" charset="0"/>
                          <a:cs typeface="Times New Roman" panose="02020603050405020304" pitchFamily="18" charset="0"/>
                        </a:rPr>
                        <a:t> CODE</a:t>
                      </a:r>
                      <a:endParaRPr lang="en-IN" dirty="0" smtClean="0"/>
                    </a:p>
                    <a:p>
                      <a:pPr marL="0" indent="0">
                        <a:buFont typeface="+mj-lt"/>
                        <a:buNone/>
                      </a:pPr>
                      <a:endParaRPr lang="en-IN" dirty="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PROPOSED SYSTEM</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smtClean="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MODULES DESCRIPTION </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SAMPLE</a:t>
                      </a:r>
                      <a:r>
                        <a:rPr lang="en-US" sz="1800" b="1" baseline="0" dirty="0" smtClean="0">
                          <a:latin typeface="Times New Roman" panose="02020603050405020304" pitchFamily="18" charset="0"/>
                          <a:cs typeface="Times New Roman" panose="02020603050405020304" pitchFamily="18" charset="0"/>
                        </a:rPr>
                        <a:t> SCREENSHOT </a:t>
                      </a:r>
                      <a:endParaRPr lang="en-IN" dirty="0" smtClean="0"/>
                    </a:p>
                    <a:p>
                      <a:pPr marL="0" marR="0" indent="0" algn="l" defTabSz="914400" rtl="0" eaLnBrk="1" fontAlgn="auto" latinLnBrk="0" hangingPunct="1">
                        <a:lnSpc>
                          <a:spcPct val="100000"/>
                        </a:lnSpc>
                        <a:spcBef>
                          <a:spcPts val="0"/>
                        </a:spcBef>
                        <a:spcAft>
                          <a:spcPts val="0"/>
                        </a:spcAft>
                        <a:buClrTx/>
                        <a:buSzTx/>
                        <a:buFont typeface="+mj-lt"/>
                        <a:buNone/>
                        <a:tabLst/>
                        <a:defRPr/>
                      </a:pPr>
                      <a:endParaRPr lang="en-IN" dirty="0" smtClean="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ADAVANTAGE</a:t>
                      </a: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LITECTURE SURVEY(1-5) </a:t>
                      </a:r>
                      <a:endParaRPr lang="en-IN" dirty="0" smtClean="0"/>
                    </a:p>
                  </a:txBody>
                  <a:tcPr/>
                </a:tc>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REFERENCE</a:t>
                      </a:r>
                      <a:endParaRPr lang="en-IN" dirty="0"/>
                    </a:p>
                  </a:txBody>
                  <a:tcPr/>
                </a:tc>
              </a:tr>
            </a:tbl>
          </a:graphicData>
        </a:graphic>
      </p:graphicFrame>
    </p:spTree>
    <p:extLst>
      <p:ext uri="{BB962C8B-B14F-4D97-AF65-F5344CB8AC3E}">
        <p14:creationId xmlns:p14="http://schemas.microsoft.com/office/powerpoint/2010/main" val="3561725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 name="Title 1"/>
          <p:cNvSpPr>
            <a:spLocks noGrp="1"/>
          </p:cNvSpPr>
          <p:nvPr>
            <p:ph type="title"/>
          </p:nvPr>
        </p:nvSpPr>
        <p:spPr>
          <a:xfrm>
            <a:off x="842963" y="242888"/>
            <a:ext cx="10515600" cy="1325563"/>
          </a:xfrm>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ABSTRACT</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244196"/>
            <a:ext cx="11658600" cy="5277119"/>
          </a:xfrm>
        </p:spPr>
        <p:txBody>
          <a:bodyPr>
            <a:noAutofit/>
          </a:bodyPr>
          <a:lstStyle/>
          <a:p>
            <a:pPr algn="just">
              <a:lnSpc>
                <a:spcPct val="150000"/>
              </a:lnSpc>
            </a:pPr>
            <a:r>
              <a:rPr lang="en-IN" sz="1600" dirty="0">
                <a:latin typeface="Times New Roman" panose="02020603050405020304" pitchFamily="18" charset="0"/>
                <a:cs typeface="Times New Roman" panose="02020603050405020304" pitchFamily="18" charset="0"/>
              </a:rPr>
              <a:t>In an era where cyber threats are growing in complexity and frequency, traditional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mechanisms often fall short in identifying sophisticated intrusion patterns. This project introduces an AI-powered honeypot system designed to proactively detect, classify, and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cyber-attacks using deep learning techniques. By simulating common attack vectors such as </a:t>
            </a:r>
            <a:r>
              <a:rPr lang="en-IN" sz="1600" dirty="0" err="1">
                <a:latin typeface="Times New Roman" panose="02020603050405020304" pitchFamily="18" charset="0"/>
                <a:cs typeface="Times New Roman" panose="02020603050405020304" pitchFamily="18" charset="0"/>
              </a:rPr>
              <a:t>DDoS</a:t>
            </a:r>
            <a:r>
              <a:rPr lang="en-IN" sz="1600" dirty="0">
                <a:latin typeface="Times New Roman" panose="02020603050405020304" pitchFamily="18" charset="0"/>
                <a:cs typeface="Times New Roman" panose="02020603050405020304" pitchFamily="18" charset="0"/>
              </a:rPr>
              <a:t>, brute-force login attempts, and malware probes, the system collects real-time data which is then </a:t>
            </a:r>
            <a:r>
              <a:rPr lang="en-IN" sz="1600" dirty="0" err="1">
                <a:latin typeface="Times New Roman" panose="02020603050405020304" pitchFamily="18" charset="0"/>
                <a:cs typeface="Times New Roman" panose="02020603050405020304" pitchFamily="18" charset="0"/>
              </a:rPr>
              <a:t>analyzed</a:t>
            </a:r>
            <a:r>
              <a:rPr lang="en-IN" sz="1600" dirty="0">
                <a:latin typeface="Times New Roman" panose="02020603050405020304" pitchFamily="18" charset="0"/>
                <a:cs typeface="Times New Roman" panose="02020603050405020304" pitchFamily="18" charset="0"/>
              </a:rPr>
              <a:t> using </a:t>
            </a:r>
            <a:r>
              <a:rPr lang="en-IN" sz="1600" dirty="0" err="1">
                <a:latin typeface="Times New Roman" panose="02020603050405020304" pitchFamily="18" charset="0"/>
                <a:cs typeface="Times New Roman" panose="02020603050405020304" pitchFamily="18" charset="0"/>
              </a:rPr>
              <a:t>autoencoder</a:t>
            </a:r>
            <a:r>
              <a:rPr lang="en-IN" sz="1600" dirty="0">
                <a:latin typeface="Times New Roman" panose="02020603050405020304" pitchFamily="18" charset="0"/>
                <a:cs typeface="Times New Roman" panose="02020603050405020304" pitchFamily="18" charset="0"/>
              </a:rPr>
              <a:t>-based feature extraction and Convolutional Neural Networks (CNNs) for multi-class classification of intrusion types</a:t>
            </a:r>
            <a:r>
              <a:rPr lang="en-IN" sz="1600" dirty="0" smtClean="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IN" sz="1600" dirty="0">
                <a:latin typeface="Times New Roman" panose="02020603050405020304" pitchFamily="18" charset="0"/>
                <a:cs typeface="Times New Roman" panose="02020603050405020304" pitchFamily="18" charset="0"/>
              </a:rPr>
              <a:t>The honeypot is capable of simulating various attack scenarios at different intensities, capturing both network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and attacker patterns. Through robust </a:t>
            </a:r>
            <a:r>
              <a:rPr lang="en-IN" sz="1600" dirty="0" err="1">
                <a:latin typeface="Times New Roman" panose="02020603050405020304" pitchFamily="18" charset="0"/>
                <a:cs typeface="Times New Roman" panose="02020603050405020304" pitchFamily="18" charset="0"/>
              </a:rPr>
              <a:t>preprocessing</a:t>
            </a:r>
            <a:r>
              <a:rPr lang="en-IN" sz="1600" dirty="0">
                <a:latin typeface="Times New Roman" panose="02020603050405020304" pitchFamily="18" charset="0"/>
                <a:cs typeface="Times New Roman" panose="02020603050405020304" pitchFamily="18" charset="0"/>
              </a:rPr>
              <a:t>, feature engineering, and the application of machine learning, the model achieves high accuracy in detecting and categorizing intrusion types such as </a:t>
            </a:r>
            <a:r>
              <a:rPr lang="en-IN" sz="1600" dirty="0" err="1">
                <a:latin typeface="Times New Roman" panose="02020603050405020304" pitchFamily="18" charset="0"/>
                <a:cs typeface="Times New Roman" panose="02020603050405020304" pitchFamily="18" charset="0"/>
              </a:rPr>
              <a:t>DoS</a:t>
            </a:r>
            <a:r>
              <a:rPr lang="en-IN" sz="1600" dirty="0">
                <a:latin typeface="Times New Roman" panose="02020603050405020304" pitchFamily="18" charset="0"/>
                <a:cs typeface="Times New Roman" panose="02020603050405020304" pitchFamily="18" charset="0"/>
              </a:rPr>
              <a:t>, R2L, Probe, and U2R attacks. This AI-driven approach significantly enhances early threat detection, allowing for faster and more accurate incident response in modern network environments.</a:t>
            </a:r>
          </a:p>
        </p:txBody>
      </p:sp>
    </p:spTree>
    <p:extLst>
      <p:ext uri="{BB962C8B-B14F-4D97-AF65-F5344CB8AC3E}">
        <p14:creationId xmlns:p14="http://schemas.microsoft.com/office/powerpoint/2010/main" val="8403078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71463" y="242888"/>
            <a:ext cx="11658600" cy="1582735"/>
          </a:xfrm>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DOMAIN INTRODUCTION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160060"/>
            <a:ext cx="11658600" cy="5469340"/>
          </a:xfrm>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In today’s hyper-connected digital world, </a:t>
            </a:r>
            <a:r>
              <a:rPr lang="en-US" sz="1800" dirty="0" err="1">
                <a:latin typeface="Times New Roman" panose="02020603050405020304" pitchFamily="18" charset="0"/>
                <a:cs typeface="Times New Roman" panose="02020603050405020304" pitchFamily="18" charset="0"/>
              </a:rPr>
              <a:t>cybersecurity</a:t>
            </a:r>
            <a:r>
              <a:rPr lang="en-US" sz="1800" dirty="0">
                <a:latin typeface="Times New Roman" panose="02020603050405020304" pitchFamily="18" charset="0"/>
                <a:cs typeface="Times New Roman" panose="02020603050405020304" pitchFamily="18" charset="0"/>
              </a:rPr>
              <a:t> has become a critical concern for organizations, governments, and individuals alike. With the rapid advancement of technology, cybercriminals have developed more sophisticated tools and methods to exploit vulnerabilities in networks and systems. Traditional security measures such as firewalls and signature-based intrusion detection systems (IDS) often fall short when it comes to identifying new or evolving threats. As a result, there is a growing need for intelligent, adaptive security solutions that can detect and respond to these threats in real-time.</a:t>
            </a:r>
            <a:endParaRPr lang="en-IN" sz="1800" dirty="0">
              <a:latin typeface="Times New Roman" panose="02020603050405020304" pitchFamily="18" charset="0"/>
              <a:cs typeface="Times New Roman" panose="02020603050405020304" pitchFamily="18" charset="0"/>
            </a:endParaRPr>
          </a:p>
        </p:txBody>
      </p:sp>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7152627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INTRODUCTION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1173" y="1210614"/>
            <a:ext cx="11618890" cy="5418786"/>
          </a:xfrm>
        </p:spPr>
        <p:txBody>
          <a:bodyPr>
            <a:noAutofit/>
          </a:bodyPr>
          <a:lstStyle/>
          <a:p>
            <a:pPr algn="just">
              <a:lnSpc>
                <a:spcPct val="150000"/>
              </a:lnSpc>
            </a:pPr>
            <a:r>
              <a:rPr lang="en-IN" sz="1800" dirty="0">
                <a:latin typeface="Times New Roman" panose="02020603050405020304" pitchFamily="18" charset="0"/>
                <a:cs typeface="Times New Roman" panose="02020603050405020304" pitchFamily="18" charset="0"/>
              </a:rPr>
              <a:t>In this context, machine learning (ML) plays a pivotal role in automating the sentiment analysis process. Traditional approaches like rule-based systems have limitations, particularly when dealing with large datasets. Machine learning models, however, can learn from data and adapt to various linguistic nuances, slang, and the ever-evolving nature of social media language. This paper delves into the potential of using machine learning for </a:t>
            </a:r>
            <a:r>
              <a:rPr lang="en-IN" sz="1800" dirty="0" smtClean="0">
                <a:latin typeface="Times New Roman" panose="02020603050405020304" pitchFamily="18" charset="0"/>
                <a:cs typeface="Times New Roman" panose="02020603050405020304" pitchFamily="18" charset="0"/>
              </a:rPr>
              <a:t>HONEYPOT  </a:t>
            </a:r>
            <a:r>
              <a:rPr lang="en-IN" sz="1800" dirty="0">
                <a:latin typeface="Times New Roman" panose="02020603050405020304" pitchFamily="18" charset="0"/>
                <a:cs typeface="Times New Roman" panose="02020603050405020304" pitchFamily="18" charset="0"/>
              </a:rPr>
              <a:t>analysis by applying advanced text classification algorithms to classify the sentiments of user-generated content.</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2032179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42889"/>
            <a:ext cx="11658600" cy="1447800"/>
          </a:xfrm>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OBJECTIVES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162120"/>
            <a:ext cx="11658600" cy="4812187"/>
          </a:xfrm>
        </p:spPr>
        <p:txBody>
          <a:bodyPr>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primary objective of this project is to design and implement an AI-powered honeypot system capable of detecting, classifying, and analyzing various types of </a:t>
            </a:r>
            <a:r>
              <a:rPr lang="en-US" sz="1800" dirty="0" err="1">
                <a:latin typeface="Times New Roman" panose="02020603050405020304" pitchFamily="18" charset="0"/>
                <a:cs typeface="Times New Roman" panose="02020603050405020304" pitchFamily="18" charset="0"/>
              </a:rPr>
              <a:t>cyberattacks</a:t>
            </a:r>
            <a:r>
              <a:rPr lang="en-US" sz="1800" dirty="0">
                <a:latin typeface="Times New Roman" panose="02020603050405020304" pitchFamily="18" charset="0"/>
                <a:cs typeface="Times New Roman" panose="02020603050405020304" pitchFamily="18" charset="0"/>
              </a:rPr>
              <a:t> in real time. By combining traditional honeypot mechanisms with deep learning-based analytics, the system can intelligently recognize intrusion patterns, extract meaningful features from network traffic, and categorize attacks into predefined classes such as </a:t>
            </a:r>
            <a:r>
              <a:rPr lang="en-US" sz="1800" dirty="0" err="1">
                <a:latin typeface="Times New Roman" panose="02020603050405020304" pitchFamily="18" charset="0"/>
                <a:cs typeface="Times New Roman" panose="02020603050405020304" pitchFamily="18" charset="0"/>
              </a:rPr>
              <a:t>DoS</a:t>
            </a:r>
            <a:r>
              <a:rPr lang="en-US" sz="1800" dirty="0">
                <a:latin typeface="Times New Roman" panose="02020603050405020304" pitchFamily="18" charset="0"/>
                <a:cs typeface="Times New Roman" panose="02020603050405020304" pitchFamily="18" charset="0"/>
              </a:rPr>
              <a:t>, Probe, R2L, and U2R. The integration of feature extraction through </a:t>
            </a:r>
            <a:r>
              <a:rPr lang="en-US" sz="1800" dirty="0" err="1">
                <a:latin typeface="Times New Roman" panose="02020603050405020304" pitchFamily="18" charset="0"/>
                <a:cs typeface="Times New Roman" panose="02020603050405020304" pitchFamily="18" charset="0"/>
              </a:rPr>
              <a:t>autoencoders</a:t>
            </a:r>
            <a:r>
              <a:rPr lang="en-US" sz="1800" dirty="0">
                <a:latin typeface="Times New Roman" panose="02020603050405020304" pitchFamily="18" charset="0"/>
                <a:cs typeface="Times New Roman" panose="02020603050405020304" pitchFamily="18" charset="0"/>
              </a:rPr>
              <a:t> and classification using Convolutional Neural Networks (CNNs) allows for a high degree of accuracy and adaptability in detecting both known and previously unseen threats</a:t>
            </a: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A secondary objective is to simulate real-world attack scenarios—such as port scans, brute-force attempts, </a:t>
            </a:r>
            <a:r>
              <a:rPr lang="en-US" sz="1800" dirty="0" err="1">
                <a:latin typeface="Times New Roman" panose="02020603050405020304" pitchFamily="18" charset="0"/>
                <a:cs typeface="Times New Roman" panose="02020603050405020304" pitchFamily="18" charset="0"/>
              </a:rPr>
              <a:t>DDoS</a:t>
            </a:r>
            <a:r>
              <a:rPr lang="en-US" sz="1800" dirty="0">
                <a:latin typeface="Times New Roman" panose="02020603050405020304" pitchFamily="18" charset="0"/>
                <a:cs typeface="Times New Roman" panose="02020603050405020304" pitchFamily="18" charset="0"/>
              </a:rPr>
              <a:t> floods, and malware probes—against the honeypot environment. This provides valuable data for model training and validation while also stress-testing the system's detection capabilities. The project ultimately aims to enhance proactive threat intelligence gathering, reduce false positive rates in detection systems, and support automated response strategies for network security teams.</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678148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42889"/>
            <a:ext cx="11658600" cy="1447800"/>
          </a:xfrm>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PROBLEM STATEMENT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825625"/>
            <a:ext cx="11658600" cy="4351338"/>
          </a:xfrm>
        </p:spPr>
        <p:txBody>
          <a:bodyPr>
            <a:normAutofit fontScale="92500" lnSpcReduction="10000"/>
          </a:bodyPr>
          <a:lstStyle/>
          <a:p>
            <a:pPr algn="just">
              <a:lnSpc>
                <a:spcPct val="150000"/>
              </a:lnSpc>
            </a:pPr>
            <a:r>
              <a:rPr lang="en-US" sz="1800" dirty="0">
                <a:latin typeface="Times New Roman" panose="02020603050405020304" pitchFamily="18" charset="0"/>
                <a:cs typeface="Times New Roman" panose="02020603050405020304" pitchFamily="18" charset="0"/>
              </a:rPr>
              <a:t>As cyber threats become more sophisticated, existing intrusion detection systems (IDS) often struggle to keep pace with novel attack techniques, leading to missed threats or overwhelming volumes of false positives. Traditional honeypots are effective in capturing malicious activity but lack the intelligence to analyze and respond to complex attack patterns on their own. Without automation and intelligent processing, vast amounts of raw honeypot data go underutilized, delaying response times and increasing the risk of compromise.</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There is a critical need for a system that not only captures attack attempts but also applies intelligent analytics to classify and respond to them dynamically. This project addresses that gap by integrating deep learning algorithms into the honeypot framework, enabling automated threat analysis and detection with minimal human intervention. The solution must be robust, adaptive to different attack types, and scalable enough to handle high-frequency threat simulations without performance degradation.</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4919330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42889"/>
            <a:ext cx="11658600" cy="1447800"/>
          </a:xfrm>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SCOPE OF PROJECT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825625"/>
            <a:ext cx="11658600" cy="4351338"/>
          </a:xfrm>
        </p:spPr>
        <p:txBody>
          <a:bodyPr>
            <a:normAutofit fontScale="92500" lnSpcReduction="10000"/>
          </a:bodyPr>
          <a:lstStyle/>
          <a:p>
            <a:pPr algn="just">
              <a:lnSpc>
                <a:spcPct val="150000"/>
              </a:lnSpc>
            </a:pPr>
            <a:r>
              <a:rPr lang="en-US" sz="1800" dirty="0">
                <a:latin typeface="Times New Roman" panose="02020603050405020304" pitchFamily="18" charset="0"/>
                <a:cs typeface="Times New Roman" panose="02020603050405020304" pitchFamily="18" charset="0"/>
              </a:rPr>
              <a:t>The scope of this project includes the development of a functional honeypot capable of simulating various </a:t>
            </a:r>
            <a:r>
              <a:rPr lang="en-US" sz="1800" dirty="0" err="1">
                <a:latin typeface="Times New Roman" panose="02020603050405020304" pitchFamily="18" charset="0"/>
                <a:cs typeface="Times New Roman" panose="02020603050405020304" pitchFamily="18" charset="0"/>
              </a:rPr>
              <a:t>cyberattacks</a:t>
            </a:r>
            <a:r>
              <a:rPr lang="en-US" sz="1800" dirty="0">
                <a:latin typeface="Times New Roman" panose="02020603050405020304" pitchFamily="18" charset="0"/>
                <a:cs typeface="Times New Roman" panose="02020603050405020304" pitchFamily="18" charset="0"/>
              </a:rPr>
              <a:t> and capturing relevant network behavior for analysis. The system will implement multiple types of simulated attacks including port scans, brute-force login attempts, malware upload probes, and denial-of-service attacks. These attacks will be logged and analyzed in real-time using an AI-based detection engine built with deep learning techniques. The system will also track suspicious IP addresses and block further interaction if attack thresholds are exceeded</a:t>
            </a: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Additionally, the scope includes the use of data preprocessing techniques, feature standardization, and label encoding to prepare captured attack data for machine learning. </a:t>
            </a:r>
            <a:r>
              <a:rPr lang="en-US" sz="1800" dirty="0" err="1">
                <a:latin typeface="Times New Roman" panose="02020603050405020304" pitchFamily="18" charset="0"/>
                <a:cs typeface="Times New Roman" panose="02020603050405020304" pitchFamily="18" charset="0"/>
              </a:rPr>
              <a:t>Autoencoders</a:t>
            </a:r>
            <a:r>
              <a:rPr lang="en-US" sz="1800" dirty="0">
                <a:latin typeface="Times New Roman" panose="02020603050405020304" pitchFamily="18" charset="0"/>
                <a:cs typeface="Times New Roman" panose="02020603050405020304" pitchFamily="18" charset="0"/>
              </a:rPr>
              <a:t> will be used to extract key features, and a CNN-based classifier will categorize the attacks. The final deliverables include a trained and saved model, performance evaluation metrics, visualizations of attack data, and predictions on test samples. This project focuses on detection and classification but does not include implementation of active response measures or real-world network deployment beyond simulation.</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1368092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ALGORITHM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lnSpc>
                <a:spcPct val="200000"/>
              </a:lnSpc>
            </a:pPr>
            <a:r>
              <a:rPr lang="en-US" sz="1400" dirty="0" err="1">
                <a:latin typeface="Times New Roman" panose="02020603050405020304" pitchFamily="18" charset="0"/>
                <a:cs typeface="Times New Roman" panose="02020603050405020304" pitchFamily="18" charset="0"/>
              </a:rPr>
              <a:t>Autoencoder</a:t>
            </a:r>
            <a:r>
              <a:rPr lang="en-US" sz="1400" dirty="0">
                <a:latin typeface="Times New Roman" panose="02020603050405020304" pitchFamily="18" charset="0"/>
                <a:cs typeface="Times New Roman" panose="02020603050405020304" pitchFamily="18" charset="0"/>
              </a:rPr>
              <a:t> + Convolutional Neural Network (CNN)</a:t>
            </a:r>
            <a:endParaRPr lang="en-IN" sz="1400" dirty="0">
              <a:latin typeface="Times New Roman" panose="02020603050405020304" pitchFamily="18" charset="0"/>
              <a:cs typeface="Times New Roman" panose="02020603050405020304" pitchFamily="18" charset="0"/>
            </a:endParaRPr>
          </a:p>
          <a:p>
            <a:pPr algn="just">
              <a:lnSpc>
                <a:spcPct val="200000"/>
              </a:lnSpc>
            </a:pPr>
            <a:r>
              <a:rPr lang="en-US" sz="1400" dirty="0">
                <a:latin typeface="Times New Roman" panose="02020603050405020304" pitchFamily="18" charset="0"/>
                <a:cs typeface="Times New Roman" panose="02020603050405020304" pitchFamily="18" charset="0"/>
              </a:rPr>
              <a:t>(for feature extraction and multi-class intrusion detection)</a:t>
            </a:r>
            <a:endParaRPr lang="en-IN" sz="1400" dirty="0">
              <a:latin typeface="Times New Roman" panose="02020603050405020304" pitchFamily="18" charset="0"/>
              <a:cs typeface="Times New Roman" panose="02020603050405020304" pitchFamily="18" charset="0"/>
            </a:endParaRPr>
          </a:p>
          <a:p>
            <a:pPr lvl="1" algn="just">
              <a:lnSpc>
                <a:spcPct val="200000"/>
              </a:lnSpc>
            </a:pPr>
            <a:r>
              <a:rPr lang="en-US" sz="1400" dirty="0">
                <a:latin typeface="Times New Roman" panose="02020603050405020304" pitchFamily="18" charset="0"/>
                <a:cs typeface="Times New Roman" panose="02020603050405020304" pitchFamily="18" charset="0"/>
              </a:rPr>
              <a:t>Random Forest  Algorithm     </a:t>
            </a:r>
            <a:endParaRPr lang="en-IN" sz="1400" dirty="0">
              <a:latin typeface="Times New Roman" panose="02020603050405020304" pitchFamily="18" charset="0"/>
              <a:cs typeface="Times New Roman" panose="02020603050405020304" pitchFamily="18" charset="0"/>
            </a:endParaRPr>
          </a:p>
          <a:p>
            <a:pPr lvl="1" algn="just">
              <a:lnSpc>
                <a:spcPct val="200000"/>
              </a:lnSpc>
            </a:pPr>
            <a:r>
              <a:rPr lang="en-US" sz="1400" dirty="0">
                <a:latin typeface="Times New Roman" panose="02020603050405020304" pitchFamily="18" charset="0"/>
                <a:cs typeface="Times New Roman" panose="02020603050405020304" pitchFamily="18" charset="0"/>
              </a:rPr>
              <a:t>Decision Tree  Algorithm   </a:t>
            </a:r>
            <a:endParaRPr lang="en-IN" sz="1400" dirty="0">
              <a:latin typeface="Times New Roman" panose="02020603050405020304" pitchFamily="18" charset="0"/>
              <a:cs typeface="Times New Roman" panose="02020603050405020304" pitchFamily="18" charset="0"/>
            </a:endParaRPr>
          </a:p>
          <a:p>
            <a:pPr lvl="1" algn="just">
              <a:lnSpc>
                <a:spcPct val="200000"/>
              </a:lnSpc>
            </a:pPr>
            <a:r>
              <a:rPr lang="en-US" sz="1400" dirty="0">
                <a:latin typeface="Times New Roman" panose="02020603050405020304" pitchFamily="18" charset="0"/>
                <a:cs typeface="Times New Roman" panose="02020603050405020304" pitchFamily="18" charset="0"/>
              </a:rPr>
              <a:t>CNN Algorithm   </a:t>
            </a:r>
            <a:endParaRPr lang="en-IN" sz="1400" dirty="0">
              <a:latin typeface="Times New Roman" panose="02020603050405020304" pitchFamily="18" charset="0"/>
              <a:cs typeface="Times New Roman" panose="02020603050405020304" pitchFamily="18" charset="0"/>
            </a:endParaRPr>
          </a:p>
          <a:p>
            <a:pPr lvl="1" algn="just">
              <a:lnSpc>
                <a:spcPct val="200000"/>
              </a:lnSpc>
            </a:pPr>
            <a:r>
              <a:rPr lang="en-US" sz="1400" dirty="0">
                <a:latin typeface="Times New Roman" panose="02020603050405020304" pitchFamily="18" charset="0"/>
                <a:cs typeface="Times New Roman" panose="02020603050405020304" pitchFamily="18" charset="0"/>
              </a:rPr>
              <a:t>Hybrid CNN and LSTM Algorithm</a:t>
            </a:r>
            <a:endParaRPr lang="en-IN" sz="14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7500759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EXISTING SYSTEM</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214650"/>
            <a:ext cx="11658600" cy="5414749"/>
          </a:xfrm>
        </p:spPr>
        <p:txBody>
          <a:bodyPr>
            <a:normAutofit/>
          </a:bodyPr>
          <a:lstStyle/>
          <a:p>
            <a:pPr algn="just">
              <a:lnSpc>
                <a:spcPct val="150000"/>
              </a:lnSpc>
            </a:pPr>
            <a:r>
              <a:rPr lang="en-US" sz="1800" dirty="0" smtClean="0">
                <a:latin typeface="Times New Roman" panose="02020603050405020304" pitchFamily="18" charset="0"/>
                <a:cs typeface="Times New Roman" panose="02020603050405020304" pitchFamily="18" charset="0"/>
              </a:rPr>
              <a:t>traditional </a:t>
            </a:r>
            <a:r>
              <a:rPr lang="en-US" sz="1800" dirty="0">
                <a:latin typeface="Times New Roman" panose="02020603050405020304" pitchFamily="18" charset="0"/>
                <a:cs typeface="Times New Roman" panose="02020603050405020304" pitchFamily="18" charset="0"/>
              </a:rPr>
              <a:t>Intrusion Detection Systems (IDS) rely heavily on signature-based or rule-based techniques to detect and flag suspicious activity in networks. These systems compare incoming traffic patterns with a predefined set of attack signatures to identify known threats. Honeypots are sometimes used in these environments to lure attackers and collect attack data, but they typically function as passive traps and require manual analysis of logs and behavior. While effective for capturing data and recognizing previously known threats, these systems struggle with detecting novel, evolving, or obfuscated attacks that do not match existing signatures</a:t>
            </a: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Moreover, the lack of intelligent automation in most traditional systems limits their scalability and responsiveness. As the volume and complexity of </a:t>
            </a:r>
            <a:r>
              <a:rPr lang="en-US" sz="1800" dirty="0" err="1">
                <a:latin typeface="Times New Roman" panose="02020603050405020304" pitchFamily="18" charset="0"/>
                <a:cs typeface="Times New Roman" panose="02020603050405020304" pitchFamily="18" charset="0"/>
              </a:rPr>
              <a:t>cyberattacks</a:t>
            </a:r>
            <a:r>
              <a:rPr lang="en-US" sz="1800" dirty="0">
                <a:latin typeface="Times New Roman" panose="02020603050405020304" pitchFamily="18" charset="0"/>
                <a:cs typeface="Times New Roman" panose="02020603050405020304" pitchFamily="18" charset="0"/>
              </a:rPr>
              <a:t> increase, security analysts often face an overwhelming number of alerts—many of which are false positives—leading to delayed or missed threat responses. Existing systems are reactive in nature, incapable of adapting to dynamic attack strategies or learning from new intrusion patterns without manual rule updates or model retraining.</a:t>
            </a:r>
            <a:endParaRPr lang="en-IN" sz="1800" dirty="0">
              <a:latin typeface="Times New Roman" panose="02020603050405020304" pitchFamily="18" charset="0"/>
              <a:cs typeface="Times New Roman" panose="02020603050405020304" pitchFamily="18" charset="0"/>
            </a:endParaRPr>
          </a:p>
        </p:txBody>
      </p:sp>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8190595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42889"/>
            <a:ext cx="11658600" cy="1447800"/>
          </a:xfrm>
        </p:spPr>
        <p:txBody>
          <a:bodyPr/>
          <a:lstStyle/>
          <a:p>
            <a:pPr algn="ctr"/>
            <a:r>
              <a:rPr lang="en-US" sz="3600" b="1" dirty="0" smtClean="0">
                <a:latin typeface="Times New Roman" panose="02020603050405020304" pitchFamily="18" charset="0"/>
                <a:cs typeface="Times New Roman" panose="02020603050405020304" pitchFamily="18" charset="0"/>
              </a:rPr>
              <a:t>DISADVANTAGE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405720"/>
            <a:ext cx="11658600" cy="5223680"/>
          </a:xfrm>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Limited to Known Attacks: Signature-based systems cannot detect zero-day or unknown threats that do not match existing patterns</a:t>
            </a: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High False Positives: Rule-based detection can lead to many inaccurate alerts, burdening analysts</a:t>
            </a: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Manual Analysis Required: Traditional honeypots require human effort to interpret logs and detect real threats</a:t>
            </a: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Lack of Adaptability: Static models or rules do not evolve with emerging </a:t>
            </a:r>
            <a:r>
              <a:rPr lang="en-US" sz="1800" dirty="0" err="1">
                <a:latin typeface="Times New Roman" panose="02020603050405020304" pitchFamily="18" charset="0"/>
                <a:cs typeface="Times New Roman" panose="02020603050405020304" pitchFamily="18" charset="0"/>
              </a:rPr>
              <a:t>cyberattack</a:t>
            </a:r>
            <a:r>
              <a:rPr lang="en-US" sz="1800" dirty="0">
                <a:latin typeface="Times New Roman" panose="02020603050405020304" pitchFamily="18" charset="0"/>
                <a:cs typeface="Times New Roman" panose="02020603050405020304" pitchFamily="18" charset="0"/>
              </a:rPr>
              <a:t> trends.</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8714754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42889"/>
            <a:ext cx="11658600" cy="1447800"/>
          </a:xfrm>
        </p:spPr>
        <p:txBody>
          <a:bodyPr>
            <a:normAutofit/>
          </a:bodyPr>
          <a:lstStyle/>
          <a:p>
            <a:pPr algn="ctr"/>
            <a:r>
              <a:rPr lang="en-IN" sz="3600" b="1" dirty="0">
                <a:latin typeface="Times New Roman" panose="02020603050405020304" pitchFamily="18" charset="0"/>
                <a:cs typeface="Times New Roman" panose="02020603050405020304" pitchFamily="18" charset="0"/>
              </a:rPr>
              <a:t>PROPOSED SYSTEM</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472324"/>
            <a:ext cx="11658600" cy="5157076"/>
          </a:xfrm>
        </p:spPr>
        <p:txBody>
          <a:bodyPr>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proposed system integrates artificial intelligence with honeypot-based intrusion detection to provide an automated, intelligent, and adaptive </a:t>
            </a:r>
            <a:r>
              <a:rPr lang="en-US" sz="1800" dirty="0" err="1">
                <a:latin typeface="Times New Roman" panose="02020603050405020304" pitchFamily="18" charset="0"/>
                <a:cs typeface="Times New Roman" panose="02020603050405020304" pitchFamily="18" charset="0"/>
              </a:rPr>
              <a:t>cybersecurity</a:t>
            </a:r>
            <a:r>
              <a:rPr lang="en-US" sz="1800" dirty="0">
                <a:latin typeface="Times New Roman" panose="02020603050405020304" pitchFamily="18" charset="0"/>
                <a:cs typeface="Times New Roman" panose="02020603050405020304" pitchFamily="18" charset="0"/>
              </a:rPr>
              <a:t> solution. It simulates various </a:t>
            </a:r>
            <a:r>
              <a:rPr lang="en-US" sz="1800" dirty="0" err="1">
                <a:latin typeface="Times New Roman" panose="02020603050405020304" pitchFamily="18" charset="0"/>
                <a:cs typeface="Times New Roman" panose="02020603050405020304" pitchFamily="18" charset="0"/>
              </a:rPr>
              <a:t>cyberattacks</a:t>
            </a:r>
            <a:r>
              <a:rPr lang="en-US" sz="1800" dirty="0">
                <a:latin typeface="Times New Roman" panose="02020603050405020304" pitchFamily="18" charset="0"/>
                <a:cs typeface="Times New Roman" panose="02020603050405020304" pitchFamily="18" charset="0"/>
              </a:rPr>
              <a:t> in a controlled environment and uses deep learning techniques—specifically </a:t>
            </a:r>
            <a:r>
              <a:rPr lang="en-US" sz="1800" dirty="0" err="1">
                <a:latin typeface="Times New Roman" panose="02020603050405020304" pitchFamily="18" charset="0"/>
                <a:cs typeface="Times New Roman" panose="02020603050405020304" pitchFamily="18" charset="0"/>
              </a:rPr>
              <a:t>autoencoders</a:t>
            </a:r>
            <a:r>
              <a:rPr lang="en-US" sz="1800" dirty="0">
                <a:latin typeface="Times New Roman" panose="02020603050405020304" pitchFamily="18" charset="0"/>
                <a:cs typeface="Times New Roman" panose="02020603050405020304" pitchFamily="18" charset="0"/>
              </a:rPr>
              <a:t> for feature extraction and CNNs for multi-class classification—to analyze and categorize intrusion attempts in real time. This approach enables the system to learn from raw attack data, detect anomalies, and classify threats with high accuracy</a:t>
            </a: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Unlike traditional systems, this AI-powered honeypot dynamically adapts to new patterns of behavior and continuously improves as more attack data is collected. It not only detects known threats but also identifies previously unseen attack signatures through anomaly detection and feature learning. By automating analysis and classification, the proposed system significantly reduces human effort and improves the speed and accuracy of threat detection in modern networks.</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0105174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smtClean="0">
                <a:latin typeface="Times New Roman" panose="02020603050405020304" pitchFamily="18" charset="0"/>
                <a:cs typeface="Times New Roman" panose="02020603050405020304" pitchFamily="18" charset="0"/>
              </a:rPr>
              <a:t>ADVANTAGE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514900"/>
            <a:ext cx="11658600" cy="5114499"/>
          </a:xfrm>
        </p:spPr>
        <p:txBody>
          <a:bodyPr>
            <a:normAutofit/>
          </a:bodyPr>
          <a:lstStyle/>
          <a:p>
            <a:pPr algn="just">
              <a:lnSpc>
                <a:spcPct val="150000"/>
              </a:lnSpc>
            </a:pPr>
            <a:r>
              <a:rPr lang="en-US" sz="1600" dirty="0">
                <a:latin typeface="Times New Roman" panose="02020603050405020304" pitchFamily="18" charset="0"/>
                <a:cs typeface="Times New Roman" panose="02020603050405020304" pitchFamily="18" charset="0"/>
              </a:rPr>
              <a:t>Detection of Unknown Attacks: Uses deep learning to identify novel or zero-day threats through pattern recognition.</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Automated Feature Extraction: </a:t>
            </a:r>
            <a:r>
              <a:rPr lang="en-US" sz="1600" dirty="0" err="1">
                <a:latin typeface="Times New Roman" panose="02020603050405020304" pitchFamily="18" charset="0"/>
                <a:cs typeface="Times New Roman" panose="02020603050405020304" pitchFamily="18" charset="0"/>
              </a:rPr>
              <a:t>Autoencoders</a:t>
            </a:r>
            <a:r>
              <a:rPr lang="en-US" sz="1600" dirty="0">
                <a:latin typeface="Times New Roman" panose="02020603050405020304" pitchFamily="18" charset="0"/>
                <a:cs typeface="Times New Roman" panose="02020603050405020304" pitchFamily="18" charset="0"/>
              </a:rPr>
              <a:t> automatically process and reduce complex data into meaningful features.</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Improved Accuracy: CNNs provide precise multi-class classification of different intrusion types.</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Real-Time Analysis: Rapid threat detection and logging reduce response times.</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Scalable and Adaptive: The system learns from new data over time, improving performance with minimal manual intervention.</a:t>
            </a:r>
            <a:endParaRPr lang="en-IN" sz="16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3618917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50564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Flowchart: Terminator 7"/>
          <p:cNvSpPr/>
          <p:nvPr/>
        </p:nvSpPr>
        <p:spPr>
          <a:xfrm>
            <a:off x="5153042" y="1627616"/>
            <a:ext cx="1841678" cy="529999"/>
          </a:xfrm>
          <a:prstGeom prst="flowChartTerminator">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600" b="1" dirty="0" smtClean="0">
                <a:latin typeface="Times New Roman" panose="02020603050405020304" pitchFamily="18" charset="0"/>
                <a:cs typeface="Times New Roman" panose="02020603050405020304" pitchFamily="18" charset="0"/>
              </a:rPr>
              <a:t>START</a:t>
            </a:r>
            <a:endParaRPr lang="en-IN" sz="1600" b="1" dirty="0">
              <a:latin typeface="Times New Roman" panose="02020603050405020304" pitchFamily="18" charset="0"/>
              <a:cs typeface="Times New Roman" panose="02020603050405020304" pitchFamily="18" charset="0"/>
            </a:endParaRPr>
          </a:p>
        </p:txBody>
      </p:sp>
      <p:sp>
        <p:nvSpPr>
          <p:cNvPr id="43" name="Rectangle 42"/>
          <p:cNvSpPr/>
          <p:nvPr/>
        </p:nvSpPr>
        <p:spPr>
          <a:xfrm>
            <a:off x="3801733" y="3846003"/>
            <a:ext cx="633507" cy="338554"/>
          </a:xfrm>
          <a:prstGeom prst="rect">
            <a:avLst/>
          </a:prstGeom>
        </p:spPr>
        <p:txBody>
          <a:bodyPr wrap="none">
            <a:spAutoFit/>
          </a:bodyPr>
          <a:lstStyle/>
          <a:p>
            <a:r>
              <a:rPr lang="en-US" sz="1600" b="1" dirty="0" smtClean="0">
                <a:solidFill>
                  <a:srgbClr val="FF0000"/>
                </a:solidFill>
                <a:latin typeface="Times New Roman" panose="02020603050405020304" pitchFamily="18" charset="0"/>
                <a:cs typeface="Times New Roman" panose="02020603050405020304" pitchFamily="18" charset="0"/>
              </a:rPr>
              <a:t>YES </a:t>
            </a:r>
            <a:endParaRPr lang="en-IN" sz="1600" dirty="0">
              <a:solidFill>
                <a:srgbClr val="FF0000"/>
              </a:solidFill>
            </a:endParaRPr>
          </a:p>
        </p:txBody>
      </p:sp>
      <p:sp>
        <p:nvSpPr>
          <p:cNvPr id="74" name="Rectangle 73"/>
          <p:cNvSpPr/>
          <p:nvPr/>
        </p:nvSpPr>
        <p:spPr>
          <a:xfrm>
            <a:off x="1116599" y="748414"/>
            <a:ext cx="3431497"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FLOWCHART –DF –LEVEL-0</a:t>
            </a:r>
            <a:endParaRPr lang="en-IN" dirty="0"/>
          </a:p>
        </p:txBody>
      </p:sp>
      <p:sp>
        <p:nvSpPr>
          <p:cNvPr id="2" name="Round Diagonal Corner Rectangle 1"/>
          <p:cNvSpPr/>
          <p:nvPr/>
        </p:nvSpPr>
        <p:spPr>
          <a:xfrm>
            <a:off x="4944110" y="2462144"/>
            <a:ext cx="2259542" cy="786986"/>
          </a:xfrm>
          <a:prstGeom prst="round2Diag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IN" sz="1600" b="1" dirty="0" smtClean="0">
              <a:latin typeface="Times New Roman" panose="02020603050405020304" pitchFamily="18" charset="0"/>
              <a:cs typeface="Times New Roman" panose="02020603050405020304" pitchFamily="18" charset="0"/>
            </a:endParaRPr>
          </a:p>
          <a:p>
            <a:pPr algn="ctr"/>
            <a:r>
              <a:rPr lang="en-IN" sz="1600" b="1" dirty="0" smtClean="0">
                <a:solidFill>
                  <a:srgbClr val="FF0000"/>
                </a:solidFill>
                <a:latin typeface="Times New Roman" panose="02020603050405020304" pitchFamily="18" charset="0"/>
                <a:cs typeface="Times New Roman" panose="02020603050405020304" pitchFamily="18" charset="0"/>
              </a:rPr>
              <a:t>HONEYPOT </a:t>
            </a:r>
            <a:endParaRPr lang="en-IN" sz="1600" b="1" dirty="0" smtClean="0">
              <a:latin typeface="Times New Roman" panose="02020603050405020304" pitchFamily="18" charset="0"/>
              <a:cs typeface="Times New Roman" panose="02020603050405020304" pitchFamily="18" charset="0"/>
            </a:endParaRPr>
          </a:p>
          <a:p>
            <a:pPr algn="ctr"/>
            <a:r>
              <a:rPr lang="en-IN" sz="1600" b="1" dirty="0" smtClean="0">
                <a:latin typeface="Times New Roman" panose="02020603050405020304" pitchFamily="18" charset="0"/>
                <a:cs typeface="Times New Roman" panose="02020603050405020304" pitchFamily="18" charset="0"/>
              </a:rPr>
              <a:t>DATASET </a:t>
            </a:r>
          </a:p>
          <a:p>
            <a:pPr algn="ctr"/>
            <a:endParaRPr lang="en-IN" sz="1600" b="1" dirty="0">
              <a:latin typeface="Times New Roman" panose="02020603050405020304" pitchFamily="18" charset="0"/>
              <a:cs typeface="Times New Roman" panose="02020603050405020304" pitchFamily="18" charset="0"/>
            </a:endParaRPr>
          </a:p>
        </p:txBody>
      </p:sp>
      <p:sp>
        <p:nvSpPr>
          <p:cNvPr id="36" name="Flowchart: Process 35"/>
          <p:cNvSpPr/>
          <p:nvPr/>
        </p:nvSpPr>
        <p:spPr>
          <a:xfrm>
            <a:off x="4893670" y="3538697"/>
            <a:ext cx="2325038" cy="898913"/>
          </a:xfrm>
          <a:prstGeom prst="flowChartProcess">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DATA PARTITIONING</a:t>
            </a:r>
          </a:p>
          <a:p>
            <a:pPr algn="ctr"/>
            <a:r>
              <a:rPr lang="en-IN" sz="1600" b="1" dirty="0" smtClean="0">
                <a:solidFill>
                  <a:schemeClr val="tx1"/>
                </a:solidFill>
                <a:latin typeface="Times New Roman" panose="02020603050405020304" pitchFamily="18" charset="0"/>
                <a:cs typeface="Times New Roman" panose="02020603050405020304" pitchFamily="18" charset="0"/>
              </a:rPr>
              <a:t>(TRAIN AND TEST)</a:t>
            </a:r>
            <a:endParaRPr lang="en-IN" sz="1600" b="1" dirty="0">
              <a:solidFill>
                <a:schemeClr val="tx1"/>
              </a:solidFill>
              <a:latin typeface="Times New Roman" panose="02020603050405020304" pitchFamily="18" charset="0"/>
              <a:cs typeface="Times New Roman" panose="02020603050405020304" pitchFamily="18" charset="0"/>
            </a:endParaRPr>
          </a:p>
        </p:txBody>
      </p:sp>
      <p:cxnSp>
        <p:nvCxnSpPr>
          <p:cNvPr id="38" name="Straight Arrow Connector 37"/>
          <p:cNvCxnSpPr>
            <a:endCxn id="2" idx="3"/>
          </p:cNvCxnSpPr>
          <p:nvPr/>
        </p:nvCxnSpPr>
        <p:spPr>
          <a:xfrm>
            <a:off x="6073880" y="2172577"/>
            <a:ext cx="1" cy="28956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2" name="Flowchart: Decision 51"/>
          <p:cNvSpPr/>
          <p:nvPr/>
        </p:nvSpPr>
        <p:spPr>
          <a:xfrm>
            <a:off x="1044527" y="3249130"/>
            <a:ext cx="2680461" cy="1922557"/>
          </a:xfrm>
          <a:prstGeom prst="flowChartDecision">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DATA</a:t>
            </a:r>
            <a:r>
              <a:rPr lang="en-IN" sz="1600" b="1" dirty="0" smtClean="0">
                <a:solidFill>
                  <a:schemeClr val="tx1"/>
                </a:solidFill>
                <a:latin typeface="Times New Roman" panose="02020603050405020304" pitchFamily="18" charset="0"/>
                <a:cs typeface="Times New Roman" panose="02020603050405020304" pitchFamily="18" charset="0"/>
              </a:rPr>
              <a:t> CLEANING </a:t>
            </a:r>
          </a:p>
          <a:p>
            <a:pPr algn="ctr"/>
            <a:r>
              <a:rPr lang="en-IN" sz="1600" b="1" dirty="0" smtClean="0">
                <a:solidFill>
                  <a:schemeClr val="tx1"/>
                </a:solidFill>
                <a:latin typeface="Times New Roman" panose="02020603050405020304" pitchFamily="18" charset="0"/>
                <a:cs typeface="Times New Roman" panose="02020603050405020304" pitchFamily="18" charset="0"/>
              </a:rPr>
              <a:t>&amp; NORMALIZATION </a:t>
            </a:r>
            <a:endParaRPr lang="en-IN" sz="1600" b="1" dirty="0">
              <a:solidFill>
                <a:schemeClr val="tx1"/>
              </a:solidFill>
              <a:latin typeface="Times New Roman" panose="02020603050405020304" pitchFamily="18" charset="0"/>
              <a:cs typeface="Times New Roman" panose="02020603050405020304" pitchFamily="18" charset="0"/>
            </a:endParaRPr>
          </a:p>
        </p:txBody>
      </p:sp>
      <p:cxnSp>
        <p:nvCxnSpPr>
          <p:cNvPr id="27" name="Elbow Connector 26"/>
          <p:cNvCxnSpPr>
            <a:stCxn id="2" idx="2"/>
          </p:cNvCxnSpPr>
          <p:nvPr/>
        </p:nvCxnSpPr>
        <p:spPr>
          <a:xfrm rot="10800000" flipV="1">
            <a:off x="2384758" y="2855636"/>
            <a:ext cx="2559352" cy="393493"/>
          </a:xfrm>
          <a:prstGeom prst="bentConnector2">
            <a:avLst/>
          </a:prstGeom>
          <a:ln w="38100">
            <a:prstDash val="dash"/>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52" idx="3"/>
          </p:cNvCxnSpPr>
          <p:nvPr/>
        </p:nvCxnSpPr>
        <p:spPr>
          <a:xfrm>
            <a:off x="3724988" y="4210409"/>
            <a:ext cx="1168682" cy="8220"/>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sp>
        <p:nvSpPr>
          <p:cNvPr id="59" name="Rectangle 58"/>
          <p:cNvSpPr/>
          <p:nvPr/>
        </p:nvSpPr>
        <p:spPr>
          <a:xfrm>
            <a:off x="1169989" y="5171687"/>
            <a:ext cx="543739" cy="338554"/>
          </a:xfrm>
          <a:prstGeom prst="rect">
            <a:avLst/>
          </a:prstGeom>
        </p:spPr>
        <p:txBody>
          <a:bodyPr wrap="none">
            <a:spAutoFit/>
          </a:bodyPr>
          <a:lstStyle/>
          <a:p>
            <a:r>
              <a:rPr lang="en-US" sz="1600" b="1" dirty="0" smtClean="0">
                <a:solidFill>
                  <a:srgbClr val="FF0000"/>
                </a:solidFill>
                <a:latin typeface="Times New Roman" panose="02020603050405020304" pitchFamily="18" charset="0"/>
                <a:cs typeface="Times New Roman" panose="02020603050405020304" pitchFamily="18" charset="0"/>
              </a:rPr>
              <a:t>NO </a:t>
            </a:r>
            <a:endParaRPr lang="en-IN" sz="1600" dirty="0">
              <a:solidFill>
                <a:srgbClr val="FF0000"/>
              </a:solidFill>
            </a:endParaRPr>
          </a:p>
        </p:txBody>
      </p:sp>
      <p:cxnSp>
        <p:nvCxnSpPr>
          <p:cNvPr id="80" name="Elbow Connector 79"/>
          <p:cNvCxnSpPr>
            <a:stCxn id="52" idx="2"/>
          </p:cNvCxnSpPr>
          <p:nvPr/>
        </p:nvCxnSpPr>
        <p:spPr>
          <a:xfrm rot="16200000" flipH="1">
            <a:off x="3599203" y="3957242"/>
            <a:ext cx="357638" cy="2786528"/>
          </a:xfrm>
          <a:prstGeom prst="bentConnector2">
            <a:avLst/>
          </a:prstGeom>
          <a:ln w="38100">
            <a:prstDash val="dash"/>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p:cNvCxnSpPr>
            <a:stCxn id="36" idx="2"/>
          </p:cNvCxnSpPr>
          <p:nvPr/>
        </p:nvCxnSpPr>
        <p:spPr>
          <a:xfrm>
            <a:off x="6056189" y="4437610"/>
            <a:ext cx="0" cy="759958"/>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4" name="Flowchart: Terminator 33"/>
          <p:cNvSpPr/>
          <p:nvPr/>
        </p:nvSpPr>
        <p:spPr>
          <a:xfrm>
            <a:off x="5179924" y="5200607"/>
            <a:ext cx="1841678" cy="654284"/>
          </a:xfrm>
          <a:prstGeom prst="flowChartTerminator">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smtClean="0">
                <a:latin typeface="Times New Roman" panose="02020603050405020304" pitchFamily="18" charset="0"/>
                <a:cs typeface="Times New Roman" panose="02020603050405020304" pitchFamily="18" charset="0"/>
              </a:rPr>
              <a:t>END</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4877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50564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Flowchart: Terminator 7"/>
          <p:cNvSpPr/>
          <p:nvPr/>
        </p:nvSpPr>
        <p:spPr>
          <a:xfrm>
            <a:off x="4770905" y="508500"/>
            <a:ext cx="1841678" cy="529999"/>
          </a:xfrm>
          <a:prstGeom prst="flowChartTerminator">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600" b="1" dirty="0" smtClean="0">
                <a:latin typeface="Times New Roman" panose="02020603050405020304" pitchFamily="18" charset="0"/>
                <a:cs typeface="Times New Roman" panose="02020603050405020304" pitchFamily="18" charset="0"/>
              </a:rPr>
              <a:t>START</a:t>
            </a:r>
            <a:endParaRPr lang="en-IN" sz="1600" b="1" dirty="0">
              <a:latin typeface="Times New Roman" panose="02020603050405020304" pitchFamily="18" charset="0"/>
              <a:cs typeface="Times New Roman" panose="02020603050405020304" pitchFamily="18" charset="0"/>
            </a:endParaRPr>
          </a:p>
        </p:txBody>
      </p:sp>
      <p:sp>
        <p:nvSpPr>
          <p:cNvPr id="43" name="Rectangle 42"/>
          <p:cNvSpPr/>
          <p:nvPr/>
        </p:nvSpPr>
        <p:spPr>
          <a:xfrm>
            <a:off x="3419596" y="2726887"/>
            <a:ext cx="633507" cy="338554"/>
          </a:xfrm>
          <a:prstGeom prst="rect">
            <a:avLst/>
          </a:prstGeom>
        </p:spPr>
        <p:txBody>
          <a:bodyPr wrap="none">
            <a:spAutoFit/>
          </a:bodyPr>
          <a:lstStyle/>
          <a:p>
            <a:r>
              <a:rPr lang="en-US" sz="1600" b="1" dirty="0" smtClean="0">
                <a:solidFill>
                  <a:srgbClr val="FF0000"/>
                </a:solidFill>
                <a:latin typeface="Times New Roman" panose="02020603050405020304" pitchFamily="18" charset="0"/>
                <a:cs typeface="Times New Roman" panose="02020603050405020304" pitchFamily="18" charset="0"/>
              </a:rPr>
              <a:t>YES </a:t>
            </a:r>
            <a:endParaRPr lang="en-IN" sz="1600" dirty="0">
              <a:solidFill>
                <a:srgbClr val="FF0000"/>
              </a:solidFill>
            </a:endParaRPr>
          </a:p>
        </p:txBody>
      </p:sp>
      <p:sp>
        <p:nvSpPr>
          <p:cNvPr id="74" name="Rectangle 73"/>
          <p:cNvSpPr/>
          <p:nvPr/>
        </p:nvSpPr>
        <p:spPr>
          <a:xfrm>
            <a:off x="456243" y="465592"/>
            <a:ext cx="3431497"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FLOWCHART –DF –</a:t>
            </a:r>
            <a:r>
              <a:rPr lang="en-IN" b="1" dirty="0" smtClean="0">
                <a:latin typeface="Times New Roman" panose="02020603050405020304" pitchFamily="18" charset="0"/>
                <a:cs typeface="Times New Roman" panose="02020603050405020304" pitchFamily="18" charset="0"/>
              </a:rPr>
              <a:t>LEVEL-1</a:t>
            </a:r>
            <a:endParaRPr lang="en-IN" dirty="0"/>
          </a:p>
        </p:txBody>
      </p:sp>
      <p:sp>
        <p:nvSpPr>
          <p:cNvPr id="2" name="Round Diagonal Corner Rectangle 1"/>
          <p:cNvSpPr/>
          <p:nvPr/>
        </p:nvSpPr>
        <p:spPr>
          <a:xfrm>
            <a:off x="4561973" y="1343028"/>
            <a:ext cx="2259542" cy="786986"/>
          </a:xfrm>
          <a:prstGeom prst="round2Diag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IN" sz="1600" b="1" dirty="0">
              <a:latin typeface="Times New Roman" panose="02020603050405020304" pitchFamily="18" charset="0"/>
              <a:cs typeface="Times New Roman" panose="02020603050405020304" pitchFamily="18" charset="0"/>
            </a:endParaRPr>
          </a:p>
          <a:p>
            <a:pPr algn="ctr"/>
            <a:r>
              <a:rPr lang="en-IN" sz="1600" b="1" dirty="0" smtClean="0">
                <a:solidFill>
                  <a:srgbClr val="FF0000"/>
                </a:solidFill>
                <a:latin typeface="Times New Roman" panose="02020603050405020304" pitchFamily="18" charset="0"/>
                <a:cs typeface="Times New Roman" panose="02020603050405020304" pitchFamily="18" charset="0"/>
              </a:rPr>
              <a:t>HONEYPOT  </a:t>
            </a:r>
            <a:endParaRPr lang="en-IN" sz="1600" b="1" dirty="0">
              <a:latin typeface="Times New Roman" panose="02020603050405020304" pitchFamily="18" charset="0"/>
              <a:cs typeface="Times New Roman" panose="02020603050405020304" pitchFamily="18" charset="0"/>
            </a:endParaRPr>
          </a:p>
          <a:p>
            <a:pPr algn="ctr"/>
            <a:r>
              <a:rPr lang="en-IN" sz="1600" b="1" dirty="0">
                <a:latin typeface="Times New Roman" panose="02020603050405020304" pitchFamily="18" charset="0"/>
                <a:cs typeface="Times New Roman" panose="02020603050405020304" pitchFamily="18" charset="0"/>
              </a:rPr>
              <a:t>DATASET </a:t>
            </a:r>
          </a:p>
          <a:p>
            <a:pPr algn="ctr"/>
            <a:endParaRPr lang="en-IN" sz="1600" b="1" dirty="0">
              <a:latin typeface="Times New Roman" panose="02020603050405020304" pitchFamily="18" charset="0"/>
              <a:cs typeface="Times New Roman" panose="02020603050405020304" pitchFamily="18" charset="0"/>
            </a:endParaRPr>
          </a:p>
        </p:txBody>
      </p:sp>
      <p:sp>
        <p:nvSpPr>
          <p:cNvPr id="36" name="Flowchart: Process 35"/>
          <p:cNvSpPr/>
          <p:nvPr/>
        </p:nvSpPr>
        <p:spPr>
          <a:xfrm>
            <a:off x="4511533" y="2419581"/>
            <a:ext cx="2325038" cy="898913"/>
          </a:xfrm>
          <a:prstGeom prst="flowChartProcess">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DATA PARTITIONING</a:t>
            </a:r>
          </a:p>
          <a:p>
            <a:pPr algn="ctr"/>
            <a:r>
              <a:rPr lang="en-IN" sz="1600" b="1" dirty="0" smtClean="0">
                <a:solidFill>
                  <a:schemeClr val="tx1"/>
                </a:solidFill>
                <a:latin typeface="Times New Roman" panose="02020603050405020304" pitchFamily="18" charset="0"/>
                <a:cs typeface="Times New Roman" panose="02020603050405020304" pitchFamily="18" charset="0"/>
              </a:rPr>
              <a:t>(TRAIN AND TEST)</a:t>
            </a:r>
            <a:endParaRPr lang="en-IN" sz="1600" b="1" dirty="0">
              <a:solidFill>
                <a:schemeClr val="tx1"/>
              </a:solidFill>
              <a:latin typeface="Times New Roman" panose="02020603050405020304" pitchFamily="18" charset="0"/>
              <a:cs typeface="Times New Roman" panose="02020603050405020304" pitchFamily="18" charset="0"/>
            </a:endParaRPr>
          </a:p>
        </p:txBody>
      </p:sp>
      <p:cxnSp>
        <p:nvCxnSpPr>
          <p:cNvPr id="38" name="Straight Arrow Connector 37"/>
          <p:cNvCxnSpPr>
            <a:endCxn id="2" idx="3"/>
          </p:cNvCxnSpPr>
          <p:nvPr/>
        </p:nvCxnSpPr>
        <p:spPr>
          <a:xfrm>
            <a:off x="5691743" y="1053461"/>
            <a:ext cx="1" cy="28956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2" name="Flowchart: Decision 51"/>
          <p:cNvSpPr/>
          <p:nvPr/>
        </p:nvSpPr>
        <p:spPr>
          <a:xfrm>
            <a:off x="662390" y="2130014"/>
            <a:ext cx="2680461" cy="1922557"/>
          </a:xfrm>
          <a:prstGeom prst="flowChartDecision">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DATA</a:t>
            </a:r>
            <a:r>
              <a:rPr lang="en-IN" sz="1600" b="1" dirty="0" smtClean="0">
                <a:solidFill>
                  <a:schemeClr val="tx1"/>
                </a:solidFill>
                <a:latin typeface="Times New Roman" panose="02020603050405020304" pitchFamily="18" charset="0"/>
                <a:cs typeface="Times New Roman" panose="02020603050405020304" pitchFamily="18" charset="0"/>
              </a:rPr>
              <a:t> CLEANING </a:t>
            </a:r>
          </a:p>
          <a:p>
            <a:pPr algn="ctr"/>
            <a:r>
              <a:rPr lang="en-IN" sz="1600" b="1" dirty="0" smtClean="0">
                <a:solidFill>
                  <a:schemeClr val="tx1"/>
                </a:solidFill>
                <a:latin typeface="Times New Roman" panose="02020603050405020304" pitchFamily="18" charset="0"/>
                <a:cs typeface="Times New Roman" panose="02020603050405020304" pitchFamily="18" charset="0"/>
              </a:rPr>
              <a:t>&amp; NORMALIZATION </a:t>
            </a:r>
            <a:endParaRPr lang="en-IN" sz="1600" b="1" dirty="0">
              <a:solidFill>
                <a:schemeClr val="tx1"/>
              </a:solidFill>
              <a:latin typeface="Times New Roman" panose="02020603050405020304" pitchFamily="18" charset="0"/>
              <a:cs typeface="Times New Roman" panose="02020603050405020304" pitchFamily="18" charset="0"/>
            </a:endParaRPr>
          </a:p>
        </p:txBody>
      </p:sp>
      <p:cxnSp>
        <p:nvCxnSpPr>
          <p:cNvPr id="27" name="Elbow Connector 26"/>
          <p:cNvCxnSpPr>
            <a:stCxn id="2" idx="2"/>
            <a:endCxn id="52" idx="0"/>
          </p:cNvCxnSpPr>
          <p:nvPr/>
        </p:nvCxnSpPr>
        <p:spPr>
          <a:xfrm rot="10800000" flipV="1">
            <a:off x="2002621" y="1736520"/>
            <a:ext cx="2559352" cy="393493"/>
          </a:xfrm>
          <a:prstGeom prst="bentConnector2">
            <a:avLst/>
          </a:prstGeom>
          <a:ln w="38100">
            <a:prstDash val="dash"/>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52" idx="3"/>
          </p:cNvCxnSpPr>
          <p:nvPr/>
        </p:nvCxnSpPr>
        <p:spPr>
          <a:xfrm>
            <a:off x="3342851" y="3091293"/>
            <a:ext cx="1168682" cy="8220"/>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sp>
        <p:nvSpPr>
          <p:cNvPr id="59" name="Rectangle 58"/>
          <p:cNvSpPr/>
          <p:nvPr/>
        </p:nvSpPr>
        <p:spPr>
          <a:xfrm>
            <a:off x="787852" y="4052571"/>
            <a:ext cx="543739" cy="338554"/>
          </a:xfrm>
          <a:prstGeom prst="rect">
            <a:avLst/>
          </a:prstGeom>
        </p:spPr>
        <p:txBody>
          <a:bodyPr wrap="none">
            <a:spAutoFit/>
          </a:bodyPr>
          <a:lstStyle/>
          <a:p>
            <a:r>
              <a:rPr lang="en-US" sz="1600" b="1" dirty="0" smtClean="0">
                <a:solidFill>
                  <a:srgbClr val="FF0000"/>
                </a:solidFill>
                <a:latin typeface="Times New Roman" panose="02020603050405020304" pitchFamily="18" charset="0"/>
                <a:cs typeface="Times New Roman" panose="02020603050405020304" pitchFamily="18" charset="0"/>
              </a:rPr>
              <a:t>NO </a:t>
            </a:r>
            <a:endParaRPr lang="en-IN" sz="1600" dirty="0">
              <a:solidFill>
                <a:srgbClr val="FF0000"/>
              </a:solidFill>
            </a:endParaRPr>
          </a:p>
        </p:txBody>
      </p:sp>
      <p:sp>
        <p:nvSpPr>
          <p:cNvPr id="60" name="Flowchart: Process 59"/>
          <p:cNvSpPr/>
          <p:nvPr/>
        </p:nvSpPr>
        <p:spPr>
          <a:xfrm>
            <a:off x="4511533" y="3592093"/>
            <a:ext cx="2325038" cy="1035474"/>
          </a:xfrm>
          <a:prstGeom prst="flowChartProcess">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solidFill>
                  <a:srgbClr val="FF0000"/>
                </a:solidFill>
                <a:latin typeface="Times New Roman" panose="02020603050405020304" pitchFamily="18" charset="0"/>
                <a:cs typeface="Times New Roman" panose="02020603050405020304" pitchFamily="18" charset="0"/>
              </a:rPr>
              <a:t>MODEL TRAINING</a:t>
            </a:r>
          </a:p>
          <a:p>
            <a:pPr algn="ctr"/>
            <a:r>
              <a:rPr lang="en-US" sz="1600" b="1" dirty="0" smtClean="0">
                <a:solidFill>
                  <a:schemeClr val="tx1"/>
                </a:solidFill>
                <a:latin typeface="Times New Roman" panose="02020603050405020304" pitchFamily="18" charset="0"/>
                <a:cs typeface="Times New Roman" panose="02020603050405020304" pitchFamily="18" charset="0"/>
              </a:rPr>
              <a:t>(</a:t>
            </a:r>
            <a:r>
              <a:rPr lang="en-IN" sz="1600" b="1" dirty="0" smtClean="0">
                <a:solidFill>
                  <a:schemeClr val="tx1"/>
                </a:solidFill>
                <a:latin typeface="Times New Roman" panose="02020603050405020304" pitchFamily="18" charset="0"/>
                <a:cs typeface="Times New Roman" panose="02020603050405020304" pitchFamily="18" charset="0"/>
              </a:rPr>
              <a:t>DL ALGORITHM </a:t>
            </a:r>
            <a:r>
              <a:rPr lang="en-IN" sz="1600" b="1" dirty="0">
                <a:solidFill>
                  <a:schemeClr val="tx1"/>
                </a:solidFill>
                <a:latin typeface="Times New Roman" panose="02020603050405020304" pitchFamily="18" charset="0"/>
                <a:cs typeface="Times New Roman" panose="02020603050405020304" pitchFamily="18" charset="0"/>
              </a:rPr>
              <a:t>ON TRAIN DATA  </a:t>
            </a:r>
            <a:r>
              <a:rPr lang="en-US" sz="1600" b="1" dirty="0">
                <a:solidFill>
                  <a:schemeClr val="tx1"/>
                </a:solidFill>
                <a:latin typeface="Times New Roman" panose="02020603050405020304" pitchFamily="18" charset="0"/>
                <a:cs typeface="Times New Roman" panose="02020603050405020304" pitchFamily="18" charset="0"/>
              </a:rPr>
              <a:t>)</a:t>
            </a:r>
            <a:endParaRPr lang="en-IN" sz="1600" b="1" dirty="0">
              <a:solidFill>
                <a:schemeClr val="tx1"/>
              </a:solidFill>
              <a:latin typeface="Times New Roman" panose="02020603050405020304" pitchFamily="18" charset="0"/>
              <a:cs typeface="Times New Roman" panose="02020603050405020304" pitchFamily="18" charset="0"/>
            </a:endParaRPr>
          </a:p>
        </p:txBody>
      </p:sp>
      <p:cxnSp>
        <p:nvCxnSpPr>
          <p:cNvPr id="63" name="Straight Arrow Connector 62"/>
          <p:cNvCxnSpPr/>
          <p:nvPr/>
        </p:nvCxnSpPr>
        <p:spPr>
          <a:xfrm>
            <a:off x="5658974" y="3308870"/>
            <a:ext cx="1" cy="28956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5" name="Flowchart: Process 64"/>
          <p:cNvSpPr/>
          <p:nvPr/>
        </p:nvSpPr>
        <p:spPr>
          <a:xfrm>
            <a:off x="7617049" y="3622487"/>
            <a:ext cx="3137387" cy="2244669"/>
          </a:xfrm>
          <a:prstGeom prst="flowChartProcess">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Random Forest Algorithm</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Decision Tree Algorithm</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Linear Regression Algorithm</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Hybrid Random Forest and Decision Tree Algorithm</a:t>
            </a:r>
            <a:endParaRPr lang="en-IN" sz="1600" dirty="0">
              <a:latin typeface="Times New Roman" panose="02020603050405020304" pitchFamily="18" charset="0"/>
              <a:cs typeface="Times New Roman" panose="02020603050405020304" pitchFamily="18" charset="0"/>
            </a:endParaRPr>
          </a:p>
        </p:txBody>
      </p:sp>
      <p:cxnSp>
        <p:nvCxnSpPr>
          <p:cNvPr id="66" name="Straight Arrow Connector 65"/>
          <p:cNvCxnSpPr/>
          <p:nvPr/>
        </p:nvCxnSpPr>
        <p:spPr>
          <a:xfrm flipH="1">
            <a:off x="6821515" y="4146461"/>
            <a:ext cx="773408" cy="1187"/>
          </a:xfrm>
          <a:prstGeom prst="straightConnector1">
            <a:avLst/>
          </a:prstGeom>
          <a:ln w="38100">
            <a:prstDash val="sysDash"/>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p:cNvCxnSpPr/>
          <p:nvPr/>
        </p:nvCxnSpPr>
        <p:spPr>
          <a:xfrm>
            <a:off x="5658972" y="4627567"/>
            <a:ext cx="2" cy="23451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80" name="Elbow Connector 79"/>
          <p:cNvCxnSpPr>
            <a:stCxn id="52" idx="2"/>
          </p:cNvCxnSpPr>
          <p:nvPr/>
        </p:nvCxnSpPr>
        <p:spPr>
          <a:xfrm rot="16200000" flipH="1">
            <a:off x="2849509" y="3205682"/>
            <a:ext cx="1074507" cy="2768283"/>
          </a:xfrm>
          <a:prstGeom prst="bentConnector2">
            <a:avLst/>
          </a:prstGeom>
          <a:ln w="38100">
            <a:prstDash val="dash"/>
            <a:tailEnd type="triangle"/>
          </a:ln>
        </p:spPr>
        <p:style>
          <a:lnRef idx="1">
            <a:schemeClr val="dk1"/>
          </a:lnRef>
          <a:fillRef idx="0">
            <a:schemeClr val="dk1"/>
          </a:fillRef>
          <a:effectRef idx="0">
            <a:schemeClr val="dk1"/>
          </a:effectRef>
          <a:fontRef idx="minor">
            <a:schemeClr val="tx1"/>
          </a:fontRef>
        </p:style>
      </p:cxnSp>
      <p:sp>
        <p:nvSpPr>
          <p:cNvPr id="26" name="Flowchart: Terminator 25"/>
          <p:cNvSpPr/>
          <p:nvPr/>
        </p:nvSpPr>
        <p:spPr>
          <a:xfrm>
            <a:off x="4770905" y="4862078"/>
            <a:ext cx="1841678" cy="529999"/>
          </a:xfrm>
          <a:prstGeom prst="flowChartTerminator">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smtClean="0">
                <a:latin typeface="Times New Roman" panose="02020603050405020304" pitchFamily="18" charset="0"/>
                <a:cs typeface="Times New Roman" panose="02020603050405020304" pitchFamily="18" charset="0"/>
              </a:rPr>
              <a:t>END</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23692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50564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Flowchart: Terminator 7"/>
          <p:cNvSpPr/>
          <p:nvPr/>
        </p:nvSpPr>
        <p:spPr>
          <a:xfrm>
            <a:off x="4770905" y="508500"/>
            <a:ext cx="1841678" cy="529999"/>
          </a:xfrm>
          <a:prstGeom prst="flowChartTerminator">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600" b="1" dirty="0" smtClean="0">
                <a:latin typeface="Times New Roman" panose="02020603050405020304" pitchFamily="18" charset="0"/>
                <a:cs typeface="Times New Roman" panose="02020603050405020304" pitchFamily="18" charset="0"/>
              </a:rPr>
              <a:t>START</a:t>
            </a:r>
            <a:endParaRPr lang="en-IN" sz="1600" b="1" dirty="0">
              <a:latin typeface="Times New Roman" panose="02020603050405020304" pitchFamily="18" charset="0"/>
              <a:cs typeface="Times New Roman" panose="02020603050405020304" pitchFamily="18" charset="0"/>
            </a:endParaRPr>
          </a:p>
        </p:txBody>
      </p:sp>
      <p:sp>
        <p:nvSpPr>
          <p:cNvPr id="43" name="Rectangle 42"/>
          <p:cNvSpPr/>
          <p:nvPr/>
        </p:nvSpPr>
        <p:spPr>
          <a:xfrm>
            <a:off x="3419596" y="2726887"/>
            <a:ext cx="633507" cy="338554"/>
          </a:xfrm>
          <a:prstGeom prst="rect">
            <a:avLst/>
          </a:prstGeom>
        </p:spPr>
        <p:txBody>
          <a:bodyPr wrap="none">
            <a:spAutoFit/>
          </a:bodyPr>
          <a:lstStyle/>
          <a:p>
            <a:r>
              <a:rPr lang="en-US" sz="1600" b="1" dirty="0" smtClean="0">
                <a:solidFill>
                  <a:srgbClr val="FF0000"/>
                </a:solidFill>
                <a:latin typeface="Times New Roman" panose="02020603050405020304" pitchFamily="18" charset="0"/>
                <a:cs typeface="Times New Roman" panose="02020603050405020304" pitchFamily="18" charset="0"/>
              </a:rPr>
              <a:t>YES </a:t>
            </a:r>
            <a:endParaRPr lang="en-IN" sz="1600" dirty="0">
              <a:solidFill>
                <a:srgbClr val="FF0000"/>
              </a:solidFill>
            </a:endParaRPr>
          </a:p>
        </p:txBody>
      </p:sp>
      <p:sp>
        <p:nvSpPr>
          <p:cNvPr id="74" name="Rectangle 73"/>
          <p:cNvSpPr/>
          <p:nvPr/>
        </p:nvSpPr>
        <p:spPr>
          <a:xfrm>
            <a:off x="456243" y="465592"/>
            <a:ext cx="3431497" cy="369332"/>
          </a:xfrm>
          <a:prstGeom prst="rect">
            <a:avLst/>
          </a:prstGeom>
        </p:spPr>
        <p:txBody>
          <a:bodyPr wrap="square">
            <a:spAutoFit/>
          </a:bodyPr>
          <a:lstStyle/>
          <a:p>
            <a:r>
              <a:rPr lang="en-IN" b="1" dirty="0" smtClean="0">
                <a:latin typeface="Times New Roman" panose="02020603050405020304" pitchFamily="18" charset="0"/>
                <a:cs typeface="Times New Roman" panose="02020603050405020304" pitchFamily="18" charset="0"/>
              </a:rPr>
              <a:t>FLOWCHART –DF –LEVEL-3</a:t>
            </a:r>
            <a:endParaRPr lang="en-IN" dirty="0"/>
          </a:p>
        </p:txBody>
      </p:sp>
      <p:sp>
        <p:nvSpPr>
          <p:cNvPr id="2" name="Round Diagonal Corner Rectangle 1"/>
          <p:cNvSpPr/>
          <p:nvPr/>
        </p:nvSpPr>
        <p:spPr>
          <a:xfrm>
            <a:off x="4561973" y="1343028"/>
            <a:ext cx="2259542" cy="786986"/>
          </a:xfrm>
          <a:prstGeom prst="round2Diag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IN" sz="1600" b="1" dirty="0">
              <a:latin typeface="Times New Roman" panose="02020603050405020304" pitchFamily="18" charset="0"/>
              <a:cs typeface="Times New Roman" panose="02020603050405020304" pitchFamily="18" charset="0"/>
            </a:endParaRPr>
          </a:p>
          <a:p>
            <a:pPr algn="ctr"/>
            <a:r>
              <a:rPr lang="en-IN" sz="1600" b="1" dirty="0" smtClean="0">
                <a:solidFill>
                  <a:srgbClr val="FF0000"/>
                </a:solidFill>
                <a:latin typeface="Times New Roman" panose="02020603050405020304" pitchFamily="18" charset="0"/>
                <a:cs typeface="Times New Roman" panose="02020603050405020304" pitchFamily="18" charset="0"/>
              </a:rPr>
              <a:t>HONEYPOT  </a:t>
            </a:r>
            <a:endParaRPr lang="en-IN" sz="1600" b="1" dirty="0">
              <a:latin typeface="Times New Roman" panose="02020603050405020304" pitchFamily="18" charset="0"/>
              <a:cs typeface="Times New Roman" panose="02020603050405020304" pitchFamily="18" charset="0"/>
            </a:endParaRPr>
          </a:p>
          <a:p>
            <a:pPr algn="ctr"/>
            <a:r>
              <a:rPr lang="en-IN" sz="1600" b="1" dirty="0">
                <a:latin typeface="Times New Roman" panose="02020603050405020304" pitchFamily="18" charset="0"/>
                <a:cs typeface="Times New Roman" panose="02020603050405020304" pitchFamily="18" charset="0"/>
              </a:rPr>
              <a:t>DATASET </a:t>
            </a:r>
          </a:p>
          <a:p>
            <a:pPr algn="ctr"/>
            <a:endParaRPr lang="en-IN" sz="1600" b="1" dirty="0">
              <a:latin typeface="Times New Roman" panose="02020603050405020304" pitchFamily="18" charset="0"/>
              <a:cs typeface="Times New Roman" panose="02020603050405020304" pitchFamily="18" charset="0"/>
            </a:endParaRPr>
          </a:p>
        </p:txBody>
      </p:sp>
      <p:sp>
        <p:nvSpPr>
          <p:cNvPr id="36" name="Flowchart: Process 35"/>
          <p:cNvSpPr/>
          <p:nvPr/>
        </p:nvSpPr>
        <p:spPr>
          <a:xfrm>
            <a:off x="4511533" y="2419581"/>
            <a:ext cx="2325038" cy="898913"/>
          </a:xfrm>
          <a:prstGeom prst="flowChartProcess">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DATA PARTITIONING</a:t>
            </a:r>
          </a:p>
          <a:p>
            <a:pPr algn="ctr"/>
            <a:r>
              <a:rPr lang="en-IN" sz="1600" b="1" dirty="0" smtClean="0">
                <a:solidFill>
                  <a:schemeClr val="tx1"/>
                </a:solidFill>
                <a:latin typeface="Times New Roman" panose="02020603050405020304" pitchFamily="18" charset="0"/>
                <a:cs typeface="Times New Roman" panose="02020603050405020304" pitchFamily="18" charset="0"/>
              </a:rPr>
              <a:t>(TRAIN AND TEST)</a:t>
            </a:r>
            <a:endParaRPr lang="en-IN" sz="1600" b="1" dirty="0">
              <a:solidFill>
                <a:schemeClr val="tx1"/>
              </a:solidFill>
              <a:latin typeface="Times New Roman" panose="02020603050405020304" pitchFamily="18" charset="0"/>
              <a:cs typeface="Times New Roman" panose="02020603050405020304" pitchFamily="18" charset="0"/>
            </a:endParaRPr>
          </a:p>
        </p:txBody>
      </p:sp>
      <p:cxnSp>
        <p:nvCxnSpPr>
          <p:cNvPr id="38" name="Straight Arrow Connector 37"/>
          <p:cNvCxnSpPr>
            <a:endCxn id="2" idx="3"/>
          </p:cNvCxnSpPr>
          <p:nvPr/>
        </p:nvCxnSpPr>
        <p:spPr>
          <a:xfrm>
            <a:off x="5691743" y="1053461"/>
            <a:ext cx="1" cy="28956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2" name="Flowchart: Decision 51"/>
          <p:cNvSpPr/>
          <p:nvPr/>
        </p:nvSpPr>
        <p:spPr>
          <a:xfrm>
            <a:off x="662390" y="2130014"/>
            <a:ext cx="2680461" cy="1922557"/>
          </a:xfrm>
          <a:prstGeom prst="flowChartDecision">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DATA</a:t>
            </a:r>
            <a:r>
              <a:rPr lang="en-IN" sz="1600" b="1" dirty="0" smtClean="0">
                <a:solidFill>
                  <a:schemeClr val="tx1"/>
                </a:solidFill>
                <a:latin typeface="Times New Roman" panose="02020603050405020304" pitchFamily="18" charset="0"/>
                <a:cs typeface="Times New Roman" panose="02020603050405020304" pitchFamily="18" charset="0"/>
              </a:rPr>
              <a:t> CLEANING </a:t>
            </a:r>
          </a:p>
          <a:p>
            <a:pPr algn="ctr"/>
            <a:r>
              <a:rPr lang="en-IN" sz="1600" b="1" dirty="0" smtClean="0">
                <a:solidFill>
                  <a:schemeClr val="tx1"/>
                </a:solidFill>
                <a:latin typeface="Times New Roman" panose="02020603050405020304" pitchFamily="18" charset="0"/>
                <a:cs typeface="Times New Roman" panose="02020603050405020304" pitchFamily="18" charset="0"/>
              </a:rPr>
              <a:t>&amp; NORMALIZATION </a:t>
            </a:r>
            <a:endParaRPr lang="en-IN" sz="1600" b="1" dirty="0">
              <a:solidFill>
                <a:schemeClr val="tx1"/>
              </a:solidFill>
              <a:latin typeface="Times New Roman" panose="02020603050405020304" pitchFamily="18" charset="0"/>
              <a:cs typeface="Times New Roman" panose="02020603050405020304" pitchFamily="18" charset="0"/>
            </a:endParaRPr>
          </a:p>
        </p:txBody>
      </p:sp>
      <p:cxnSp>
        <p:nvCxnSpPr>
          <p:cNvPr id="27" name="Elbow Connector 26"/>
          <p:cNvCxnSpPr>
            <a:stCxn id="2" idx="2"/>
            <a:endCxn id="52" idx="0"/>
          </p:cNvCxnSpPr>
          <p:nvPr/>
        </p:nvCxnSpPr>
        <p:spPr>
          <a:xfrm rot="10800000" flipV="1">
            <a:off x="2002621" y="1736520"/>
            <a:ext cx="2559352" cy="393493"/>
          </a:xfrm>
          <a:prstGeom prst="bentConnector2">
            <a:avLst/>
          </a:prstGeom>
          <a:ln w="38100">
            <a:prstDash val="dash"/>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52" idx="3"/>
          </p:cNvCxnSpPr>
          <p:nvPr/>
        </p:nvCxnSpPr>
        <p:spPr>
          <a:xfrm>
            <a:off x="3342851" y="3091293"/>
            <a:ext cx="1168682" cy="8220"/>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sp>
        <p:nvSpPr>
          <p:cNvPr id="59" name="Rectangle 58"/>
          <p:cNvSpPr/>
          <p:nvPr/>
        </p:nvSpPr>
        <p:spPr>
          <a:xfrm>
            <a:off x="787852" y="4052571"/>
            <a:ext cx="543739" cy="338554"/>
          </a:xfrm>
          <a:prstGeom prst="rect">
            <a:avLst/>
          </a:prstGeom>
        </p:spPr>
        <p:txBody>
          <a:bodyPr wrap="none">
            <a:spAutoFit/>
          </a:bodyPr>
          <a:lstStyle/>
          <a:p>
            <a:r>
              <a:rPr lang="en-US" sz="1600" b="1" dirty="0" smtClean="0">
                <a:solidFill>
                  <a:srgbClr val="FF0000"/>
                </a:solidFill>
                <a:latin typeface="Times New Roman" panose="02020603050405020304" pitchFamily="18" charset="0"/>
                <a:cs typeface="Times New Roman" panose="02020603050405020304" pitchFamily="18" charset="0"/>
              </a:rPr>
              <a:t>NO </a:t>
            </a:r>
            <a:endParaRPr lang="en-IN" sz="1600" dirty="0">
              <a:solidFill>
                <a:srgbClr val="FF0000"/>
              </a:solidFill>
            </a:endParaRPr>
          </a:p>
        </p:txBody>
      </p:sp>
      <p:sp>
        <p:nvSpPr>
          <p:cNvPr id="60" name="Flowchart: Process 59"/>
          <p:cNvSpPr/>
          <p:nvPr/>
        </p:nvSpPr>
        <p:spPr>
          <a:xfrm>
            <a:off x="4511533" y="3592093"/>
            <a:ext cx="2325038" cy="1035474"/>
          </a:xfrm>
          <a:prstGeom prst="flowChartProcess">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solidFill>
                  <a:srgbClr val="FF0000"/>
                </a:solidFill>
                <a:latin typeface="Times New Roman" panose="02020603050405020304" pitchFamily="18" charset="0"/>
                <a:cs typeface="Times New Roman" panose="02020603050405020304" pitchFamily="18" charset="0"/>
              </a:rPr>
              <a:t>MODEL TRAINING</a:t>
            </a:r>
          </a:p>
          <a:p>
            <a:pPr algn="ctr"/>
            <a:r>
              <a:rPr lang="en-US" sz="1600" b="1" dirty="0" smtClean="0">
                <a:solidFill>
                  <a:schemeClr val="tx1"/>
                </a:solidFill>
                <a:latin typeface="Times New Roman" panose="02020603050405020304" pitchFamily="18" charset="0"/>
                <a:cs typeface="Times New Roman" panose="02020603050405020304" pitchFamily="18" charset="0"/>
              </a:rPr>
              <a:t>(</a:t>
            </a:r>
            <a:r>
              <a:rPr lang="en-IN" sz="1600" b="1" dirty="0" smtClean="0">
                <a:solidFill>
                  <a:schemeClr val="tx1"/>
                </a:solidFill>
                <a:latin typeface="Times New Roman" panose="02020603050405020304" pitchFamily="18" charset="0"/>
                <a:cs typeface="Times New Roman" panose="02020603050405020304" pitchFamily="18" charset="0"/>
              </a:rPr>
              <a:t>DL ALGORITHM </a:t>
            </a:r>
            <a:r>
              <a:rPr lang="en-IN" sz="1600" b="1" dirty="0">
                <a:solidFill>
                  <a:schemeClr val="tx1"/>
                </a:solidFill>
                <a:latin typeface="Times New Roman" panose="02020603050405020304" pitchFamily="18" charset="0"/>
                <a:cs typeface="Times New Roman" panose="02020603050405020304" pitchFamily="18" charset="0"/>
              </a:rPr>
              <a:t>ON TRAIN DATA  </a:t>
            </a:r>
            <a:r>
              <a:rPr lang="en-US" sz="1600" b="1" dirty="0">
                <a:solidFill>
                  <a:schemeClr val="tx1"/>
                </a:solidFill>
                <a:latin typeface="Times New Roman" panose="02020603050405020304" pitchFamily="18" charset="0"/>
                <a:cs typeface="Times New Roman" panose="02020603050405020304" pitchFamily="18" charset="0"/>
              </a:rPr>
              <a:t>)</a:t>
            </a:r>
            <a:endParaRPr lang="en-IN" sz="1600" b="1" dirty="0">
              <a:solidFill>
                <a:schemeClr val="tx1"/>
              </a:solidFill>
              <a:latin typeface="Times New Roman" panose="02020603050405020304" pitchFamily="18" charset="0"/>
              <a:cs typeface="Times New Roman" panose="02020603050405020304" pitchFamily="18" charset="0"/>
            </a:endParaRPr>
          </a:p>
        </p:txBody>
      </p:sp>
      <p:cxnSp>
        <p:nvCxnSpPr>
          <p:cNvPr id="63" name="Straight Arrow Connector 62"/>
          <p:cNvCxnSpPr/>
          <p:nvPr/>
        </p:nvCxnSpPr>
        <p:spPr>
          <a:xfrm>
            <a:off x="5658974" y="3308870"/>
            <a:ext cx="1" cy="28956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5" name="Flowchart: Process 64"/>
          <p:cNvSpPr/>
          <p:nvPr/>
        </p:nvSpPr>
        <p:spPr>
          <a:xfrm>
            <a:off x="7594923" y="3505232"/>
            <a:ext cx="2630085" cy="2244669"/>
          </a:xfrm>
          <a:prstGeom prst="flowChartProcess">
            <a:avLst/>
          </a:prstGeom>
          <a:ln w="381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Random Forest  Algorithm     </a:t>
            </a: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Decision Tree  Algorithm   </a:t>
            </a: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CNN Algorithm   </a:t>
            </a:r>
            <a:endParaRPr lang="en-IN"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Hybrid CNN and LSTM Algorithm     </a:t>
            </a:r>
            <a:endParaRPr lang="en-IN" sz="1600" dirty="0">
              <a:latin typeface="Times New Roman" panose="02020603050405020304" pitchFamily="18" charset="0"/>
              <a:cs typeface="Times New Roman" panose="02020603050405020304" pitchFamily="18" charset="0"/>
            </a:endParaRPr>
          </a:p>
        </p:txBody>
      </p:sp>
      <p:cxnSp>
        <p:nvCxnSpPr>
          <p:cNvPr id="66" name="Straight Arrow Connector 65"/>
          <p:cNvCxnSpPr/>
          <p:nvPr/>
        </p:nvCxnSpPr>
        <p:spPr>
          <a:xfrm flipH="1">
            <a:off x="6821515" y="4146461"/>
            <a:ext cx="773408" cy="1187"/>
          </a:xfrm>
          <a:prstGeom prst="straightConnector1">
            <a:avLst/>
          </a:prstGeom>
          <a:ln w="38100">
            <a:prstDash val="sysDash"/>
            <a:tailEnd type="triangle"/>
          </a:ln>
        </p:spPr>
        <p:style>
          <a:lnRef idx="1">
            <a:schemeClr val="dk1"/>
          </a:lnRef>
          <a:fillRef idx="0">
            <a:schemeClr val="dk1"/>
          </a:fillRef>
          <a:effectRef idx="0">
            <a:schemeClr val="dk1"/>
          </a:effectRef>
          <a:fontRef idx="minor">
            <a:schemeClr val="tx1"/>
          </a:fontRef>
        </p:style>
      </p:cxnSp>
      <p:sp>
        <p:nvSpPr>
          <p:cNvPr id="67" name="Flowchart: Process 66"/>
          <p:cNvSpPr/>
          <p:nvPr/>
        </p:nvSpPr>
        <p:spPr>
          <a:xfrm>
            <a:off x="4487618" y="4862078"/>
            <a:ext cx="2342711" cy="825970"/>
          </a:xfrm>
          <a:prstGeom prst="flowChartProcess">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sz="1600" b="1" dirty="0" smtClean="0">
              <a:solidFill>
                <a:srgbClr val="FF0000"/>
              </a:solidFill>
              <a:latin typeface="Times New Roman" panose="02020603050405020304" pitchFamily="18" charset="0"/>
              <a:cs typeface="Times New Roman" panose="02020603050405020304" pitchFamily="18" charset="0"/>
            </a:endParaRPr>
          </a:p>
          <a:p>
            <a:pPr algn="ctr"/>
            <a:r>
              <a:rPr lang="en-US" sz="1600" b="1" dirty="0" smtClean="0">
                <a:solidFill>
                  <a:srgbClr val="FF0000"/>
                </a:solidFill>
                <a:latin typeface="Times New Roman" panose="02020603050405020304" pitchFamily="18" charset="0"/>
                <a:cs typeface="Times New Roman" panose="02020603050405020304" pitchFamily="18" charset="0"/>
              </a:rPr>
              <a:t>HONEYPOT  </a:t>
            </a:r>
            <a:r>
              <a:rPr lang="en-US" sz="1600" b="1" dirty="0" smtClean="0">
                <a:solidFill>
                  <a:schemeClr val="tx1"/>
                </a:solidFill>
                <a:latin typeface="Times New Roman" panose="02020603050405020304" pitchFamily="18" charset="0"/>
                <a:cs typeface="Times New Roman" panose="02020603050405020304" pitchFamily="18" charset="0"/>
              </a:rPr>
              <a:t>DETECTION &amp;</a:t>
            </a:r>
          </a:p>
          <a:p>
            <a:pPr algn="ctr"/>
            <a:r>
              <a:rPr lang="en-US" sz="1600" b="1" dirty="0" smtClean="0">
                <a:solidFill>
                  <a:schemeClr val="tx1"/>
                </a:solidFill>
                <a:latin typeface="Times New Roman" panose="02020603050405020304" pitchFamily="18" charset="0"/>
                <a:cs typeface="Times New Roman" panose="02020603050405020304" pitchFamily="18" charset="0"/>
              </a:rPr>
              <a:t>METICES</a:t>
            </a:r>
            <a:r>
              <a:rPr lang="en-US" sz="1600" b="1" dirty="0" smtClean="0">
                <a:solidFill>
                  <a:srgbClr val="FF0000"/>
                </a:solidFill>
                <a:latin typeface="Times New Roman" panose="02020603050405020304" pitchFamily="18" charset="0"/>
                <a:cs typeface="Times New Roman" panose="02020603050405020304" pitchFamily="18" charset="0"/>
              </a:rPr>
              <a:t> ANALYSER </a:t>
            </a:r>
            <a:endParaRPr lang="en-IN" sz="1600" b="1" dirty="0">
              <a:solidFill>
                <a:schemeClr val="tx1"/>
              </a:solidFill>
              <a:latin typeface="Times New Roman" panose="02020603050405020304" pitchFamily="18" charset="0"/>
              <a:cs typeface="Times New Roman" panose="02020603050405020304" pitchFamily="18" charset="0"/>
            </a:endParaRPr>
          </a:p>
          <a:p>
            <a:pPr algn="ctr"/>
            <a:r>
              <a:rPr lang="en-US" sz="1600" b="1" dirty="0" smtClean="0">
                <a:solidFill>
                  <a:schemeClr val="tx1"/>
                </a:solidFill>
                <a:latin typeface="Times New Roman" panose="02020603050405020304" pitchFamily="18" charset="0"/>
                <a:cs typeface="Times New Roman" panose="02020603050405020304" pitchFamily="18" charset="0"/>
              </a:rPr>
              <a:t> </a:t>
            </a:r>
            <a:endParaRPr lang="en-IN" sz="1600" b="1" dirty="0">
              <a:solidFill>
                <a:schemeClr val="tx1"/>
              </a:solidFill>
              <a:latin typeface="Times New Roman" panose="02020603050405020304" pitchFamily="18" charset="0"/>
              <a:cs typeface="Times New Roman" panose="02020603050405020304" pitchFamily="18" charset="0"/>
            </a:endParaRPr>
          </a:p>
        </p:txBody>
      </p:sp>
      <p:cxnSp>
        <p:nvCxnSpPr>
          <p:cNvPr id="76" name="Straight Arrow Connector 75"/>
          <p:cNvCxnSpPr>
            <a:endCxn id="67" idx="0"/>
          </p:cNvCxnSpPr>
          <p:nvPr/>
        </p:nvCxnSpPr>
        <p:spPr>
          <a:xfrm>
            <a:off x="5658972" y="4627567"/>
            <a:ext cx="2" cy="23451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79" name="Flowchart: Terminator 78"/>
          <p:cNvSpPr/>
          <p:nvPr/>
        </p:nvSpPr>
        <p:spPr>
          <a:xfrm>
            <a:off x="4753213" y="6032254"/>
            <a:ext cx="1841678" cy="529999"/>
          </a:xfrm>
          <a:prstGeom prst="flowChartTerminator">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b="1" dirty="0" smtClean="0">
                <a:latin typeface="Times New Roman" panose="02020603050405020304" pitchFamily="18" charset="0"/>
                <a:cs typeface="Times New Roman" panose="02020603050405020304" pitchFamily="18" charset="0"/>
              </a:rPr>
              <a:t>END</a:t>
            </a:r>
            <a:endParaRPr lang="en-IN" sz="1600" b="1" dirty="0">
              <a:latin typeface="Times New Roman" panose="02020603050405020304" pitchFamily="18" charset="0"/>
              <a:cs typeface="Times New Roman" panose="02020603050405020304" pitchFamily="18" charset="0"/>
            </a:endParaRPr>
          </a:p>
        </p:txBody>
      </p:sp>
      <p:cxnSp>
        <p:nvCxnSpPr>
          <p:cNvPr id="80" name="Elbow Connector 79"/>
          <p:cNvCxnSpPr>
            <a:stCxn id="52" idx="2"/>
            <a:endCxn id="79" idx="1"/>
          </p:cNvCxnSpPr>
          <p:nvPr/>
        </p:nvCxnSpPr>
        <p:spPr>
          <a:xfrm rot="16200000" flipH="1">
            <a:off x="2255576" y="3799616"/>
            <a:ext cx="2244683" cy="2750592"/>
          </a:xfrm>
          <a:prstGeom prst="bentConnector2">
            <a:avLst/>
          </a:prstGeom>
          <a:ln w="38100">
            <a:prstDash val="dash"/>
            <a:tailEnd type="triangle"/>
          </a:ln>
        </p:spPr>
        <p:style>
          <a:lnRef idx="1">
            <a:schemeClr val="dk1"/>
          </a:lnRef>
          <a:fillRef idx="0">
            <a:schemeClr val="dk1"/>
          </a:fillRef>
          <a:effectRef idx="0">
            <a:schemeClr val="dk1"/>
          </a:effectRef>
          <a:fontRef idx="minor">
            <a:schemeClr val="tx1"/>
          </a:fontRef>
        </p:style>
      </p:cxnSp>
      <p:cxnSp>
        <p:nvCxnSpPr>
          <p:cNvPr id="81" name="Straight Arrow Connector 80"/>
          <p:cNvCxnSpPr/>
          <p:nvPr/>
        </p:nvCxnSpPr>
        <p:spPr>
          <a:xfrm>
            <a:off x="5691743" y="5742687"/>
            <a:ext cx="1" cy="28956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941704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60713"/>
            <a:ext cx="10662747" cy="1303867"/>
          </a:xfrm>
        </p:spPr>
        <p:txBody>
          <a:bodyPr>
            <a:normAutofit/>
          </a:bodyPr>
          <a:lstStyle/>
          <a:p>
            <a:r>
              <a:rPr lang="en-IN" sz="3600" b="1" dirty="0">
                <a:latin typeface="Times New Roman" panose="02020603050405020304" pitchFamily="18" charset="0"/>
                <a:cs typeface="Times New Roman" panose="02020603050405020304" pitchFamily="18" charset="0"/>
              </a:rPr>
              <a:t>SYSTEM </a:t>
            </a:r>
            <a:r>
              <a:rPr lang="en-IN" sz="3600" b="1" dirty="0" smtClean="0">
                <a:latin typeface="Times New Roman" panose="02020603050405020304" pitchFamily="18" charset="0"/>
                <a:cs typeface="Times New Roman" panose="02020603050405020304" pitchFamily="18" charset="0"/>
              </a:rPr>
              <a:t>ARCHITECTURE</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492907"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3" name="Rectangle 19"/>
          <p:cNvSpPr>
            <a:spLocks noChangeArrowheads="1"/>
          </p:cNvSpPr>
          <p:nvPr/>
        </p:nvSpPr>
        <p:spPr bwMode="auto">
          <a:xfrm>
            <a:off x="2202287" y="-26272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4" name="Rectangle 27"/>
          <p:cNvSpPr>
            <a:spLocks noChangeArrowheads="1"/>
          </p:cNvSpPr>
          <p:nvPr/>
        </p:nvSpPr>
        <p:spPr bwMode="auto">
          <a:xfrm>
            <a:off x="4031087" y="-21700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5" name="Rounded Rectangle 24"/>
          <p:cNvSpPr/>
          <p:nvPr/>
        </p:nvSpPr>
        <p:spPr>
          <a:xfrm>
            <a:off x="6100763" y="1187355"/>
            <a:ext cx="5481123" cy="3506425"/>
          </a:xfrm>
          <a:prstGeom prst="round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41" name="Rounded Rectangle 40"/>
          <p:cNvSpPr/>
          <p:nvPr/>
        </p:nvSpPr>
        <p:spPr>
          <a:xfrm>
            <a:off x="423448" y="1187355"/>
            <a:ext cx="5525330" cy="3072405"/>
          </a:xfrm>
          <a:prstGeom prst="round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42" name="Flowchart: Process 41"/>
          <p:cNvSpPr/>
          <p:nvPr/>
        </p:nvSpPr>
        <p:spPr>
          <a:xfrm>
            <a:off x="941696" y="1562703"/>
            <a:ext cx="1869744" cy="865885"/>
          </a:xfrm>
          <a:prstGeom prst="flowChartProcess">
            <a:avLst/>
          </a:prstGeom>
          <a:ln>
            <a:prstDash val="lgDashDotDot"/>
          </a:ln>
        </p:spPr>
        <p:style>
          <a:lnRef idx="2">
            <a:schemeClr val="dk1"/>
          </a:lnRef>
          <a:fillRef idx="1">
            <a:schemeClr val="lt1"/>
          </a:fillRef>
          <a:effectRef idx="0">
            <a:schemeClr val="dk1"/>
          </a:effectRef>
          <a:fontRef idx="minor">
            <a:schemeClr val="dk1"/>
          </a:fontRef>
        </p:style>
        <p:txBody>
          <a:bodyPr rtlCol="0" anchor="ctr"/>
          <a:lstStyle/>
          <a:p>
            <a:pPr algn="ctr"/>
            <a:endParaRPr lang="en-IN" sz="1600" b="1" dirty="0">
              <a:latin typeface="Times New Roman" panose="02020603050405020304" pitchFamily="18" charset="0"/>
              <a:cs typeface="Times New Roman" panose="02020603050405020304" pitchFamily="18" charset="0"/>
            </a:endParaRPr>
          </a:p>
          <a:p>
            <a:pPr algn="ctr"/>
            <a:r>
              <a:rPr lang="en-IN" sz="1600" b="1" dirty="0" smtClean="0">
                <a:solidFill>
                  <a:srgbClr val="FF0000"/>
                </a:solidFill>
                <a:latin typeface="Times New Roman" panose="02020603050405020304" pitchFamily="18" charset="0"/>
                <a:cs typeface="Times New Roman" panose="02020603050405020304" pitchFamily="18" charset="0"/>
              </a:rPr>
              <a:t>HONEYPOT  </a:t>
            </a:r>
            <a:endParaRPr lang="en-IN" sz="1600" b="1" dirty="0">
              <a:latin typeface="Times New Roman" panose="02020603050405020304" pitchFamily="18" charset="0"/>
              <a:cs typeface="Times New Roman" panose="02020603050405020304" pitchFamily="18" charset="0"/>
            </a:endParaRPr>
          </a:p>
          <a:p>
            <a:pPr algn="ctr"/>
            <a:r>
              <a:rPr lang="en-IN" sz="1600" b="1" dirty="0">
                <a:latin typeface="Times New Roman" panose="02020603050405020304" pitchFamily="18" charset="0"/>
                <a:cs typeface="Times New Roman" panose="02020603050405020304" pitchFamily="18" charset="0"/>
              </a:rPr>
              <a:t>DATASET </a:t>
            </a:r>
          </a:p>
          <a:p>
            <a:pPr algn="ctr"/>
            <a:endParaRPr lang="en-IN" sz="1600" b="1" dirty="0">
              <a:latin typeface="Times New Roman" panose="02020603050405020304" pitchFamily="18" charset="0"/>
              <a:cs typeface="Times New Roman" panose="02020603050405020304" pitchFamily="18" charset="0"/>
            </a:endParaRPr>
          </a:p>
        </p:txBody>
      </p:sp>
      <p:sp>
        <p:nvSpPr>
          <p:cNvPr id="43" name="Flowchart: Process 42"/>
          <p:cNvSpPr/>
          <p:nvPr/>
        </p:nvSpPr>
        <p:spPr>
          <a:xfrm>
            <a:off x="3188982" y="1572986"/>
            <a:ext cx="1983520" cy="865885"/>
          </a:xfrm>
          <a:prstGeom prst="flowChartProcess">
            <a:avLst/>
          </a:prstGeom>
          <a:ln>
            <a:prstDash val="lgDashDotDot"/>
          </a:ln>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DATA CLEANING &amp; NORMALIZATION </a:t>
            </a:r>
            <a:endParaRPr lang="en-IN" sz="1600" b="1" dirty="0">
              <a:solidFill>
                <a:srgbClr val="FF0000"/>
              </a:solidFill>
              <a:latin typeface="Times New Roman" panose="02020603050405020304" pitchFamily="18" charset="0"/>
              <a:cs typeface="Times New Roman" panose="02020603050405020304" pitchFamily="18" charset="0"/>
            </a:endParaRPr>
          </a:p>
        </p:txBody>
      </p:sp>
      <p:cxnSp>
        <p:nvCxnSpPr>
          <p:cNvPr id="44" name="Straight Arrow Connector 43"/>
          <p:cNvCxnSpPr/>
          <p:nvPr/>
        </p:nvCxnSpPr>
        <p:spPr>
          <a:xfrm flipV="1">
            <a:off x="2811440" y="1952848"/>
            <a:ext cx="377543" cy="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7" name="Flowchart: Process 46"/>
          <p:cNvSpPr/>
          <p:nvPr/>
        </p:nvSpPr>
        <p:spPr>
          <a:xfrm>
            <a:off x="2165810" y="3017205"/>
            <a:ext cx="2242909" cy="865885"/>
          </a:xfrm>
          <a:prstGeom prst="flowChartProcess">
            <a:avLst/>
          </a:prstGeom>
          <a:ln>
            <a:prstDash val="lgDashDotDot"/>
          </a:ln>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DATA PARTITIONING</a:t>
            </a:r>
          </a:p>
          <a:p>
            <a:pPr algn="ctr"/>
            <a:r>
              <a:rPr lang="en-IN" sz="1600" b="1" dirty="0" smtClean="0">
                <a:solidFill>
                  <a:schemeClr val="tx1"/>
                </a:solidFill>
                <a:latin typeface="Times New Roman" panose="02020603050405020304" pitchFamily="18" charset="0"/>
                <a:cs typeface="Times New Roman" panose="02020603050405020304" pitchFamily="18" charset="0"/>
              </a:rPr>
              <a:t>(TRAIN AND TEST)</a:t>
            </a:r>
            <a:endParaRPr lang="en-IN" sz="1600" b="1" dirty="0">
              <a:solidFill>
                <a:schemeClr val="tx1"/>
              </a:solidFill>
              <a:latin typeface="Times New Roman" panose="02020603050405020304" pitchFamily="18" charset="0"/>
              <a:cs typeface="Times New Roman" panose="02020603050405020304" pitchFamily="18" charset="0"/>
            </a:endParaRPr>
          </a:p>
        </p:txBody>
      </p:sp>
      <p:cxnSp>
        <p:nvCxnSpPr>
          <p:cNvPr id="29" name="Elbow Connector 28"/>
          <p:cNvCxnSpPr>
            <a:stCxn id="43" idx="3"/>
            <a:endCxn id="47" idx="0"/>
          </p:cNvCxnSpPr>
          <p:nvPr/>
        </p:nvCxnSpPr>
        <p:spPr>
          <a:xfrm flipH="1">
            <a:off x="3287265" y="2005929"/>
            <a:ext cx="1885237" cy="1011276"/>
          </a:xfrm>
          <a:prstGeom prst="bentConnector4">
            <a:avLst>
              <a:gd name="adj1" fmla="val -12126"/>
              <a:gd name="adj2" fmla="val 71406"/>
            </a:avLst>
          </a:prstGeom>
          <a:ln w="38100">
            <a:tailEnd type="triangle"/>
          </a:ln>
        </p:spPr>
        <p:style>
          <a:lnRef idx="1">
            <a:schemeClr val="dk1"/>
          </a:lnRef>
          <a:fillRef idx="0">
            <a:schemeClr val="dk1"/>
          </a:fillRef>
          <a:effectRef idx="0">
            <a:schemeClr val="dk1"/>
          </a:effectRef>
          <a:fontRef idx="minor">
            <a:schemeClr val="tx1"/>
          </a:fontRef>
        </p:style>
      </p:cxnSp>
      <p:sp>
        <p:nvSpPr>
          <p:cNvPr id="64" name="Flowchart: Process 63"/>
          <p:cNvSpPr/>
          <p:nvPr/>
        </p:nvSpPr>
        <p:spPr>
          <a:xfrm>
            <a:off x="6375981" y="1468313"/>
            <a:ext cx="2582845" cy="1328428"/>
          </a:xfrm>
          <a:prstGeom prst="flowChartProcess">
            <a:avLst/>
          </a:prstGeom>
          <a:ln>
            <a:prstDash val="lgDashDotDot"/>
          </a:ln>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MODEL TRAINING</a:t>
            </a:r>
          </a:p>
          <a:p>
            <a:pPr algn="ctr"/>
            <a:r>
              <a:rPr lang="en-US" sz="1600" b="1" dirty="0" smtClean="0">
                <a:solidFill>
                  <a:schemeClr val="tx1"/>
                </a:solidFill>
                <a:latin typeface="Times New Roman" panose="02020603050405020304" pitchFamily="18" charset="0"/>
                <a:cs typeface="Times New Roman" panose="02020603050405020304" pitchFamily="18" charset="0"/>
              </a:rPr>
              <a:t>(</a:t>
            </a:r>
            <a:r>
              <a:rPr lang="en-IN" sz="1600" b="1" dirty="0" smtClean="0">
                <a:solidFill>
                  <a:schemeClr val="tx1"/>
                </a:solidFill>
                <a:latin typeface="Times New Roman" panose="02020603050405020304" pitchFamily="18" charset="0"/>
                <a:cs typeface="Times New Roman" panose="02020603050405020304" pitchFamily="18" charset="0"/>
              </a:rPr>
              <a:t>DEEP LEARNING ALGORITHM ON TRAIN DATA  </a:t>
            </a:r>
            <a:r>
              <a:rPr lang="en-US" sz="1600" b="1" dirty="0" smtClean="0">
                <a:solidFill>
                  <a:schemeClr val="tx1"/>
                </a:solidFill>
                <a:latin typeface="Times New Roman" panose="02020603050405020304" pitchFamily="18" charset="0"/>
                <a:cs typeface="Times New Roman" panose="02020603050405020304" pitchFamily="18" charset="0"/>
              </a:rPr>
              <a:t>)</a:t>
            </a:r>
            <a:endParaRPr lang="en-IN" sz="1600" b="1" dirty="0">
              <a:solidFill>
                <a:schemeClr val="tx1"/>
              </a:solidFill>
              <a:latin typeface="Times New Roman" panose="02020603050405020304" pitchFamily="18" charset="0"/>
              <a:cs typeface="Times New Roman" panose="02020603050405020304" pitchFamily="18" charset="0"/>
            </a:endParaRPr>
          </a:p>
        </p:txBody>
      </p:sp>
      <p:sp>
        <p:nvSpPr>
          <p:cNvPr id="65" name="Flowchart: Process 64"/>
          <p:cNvSpPr/>
          <p:nvPr/>
        </p:nvSpPr>
        <p:spPr>
          <a:xfrm>
            <a:off x="9234044" y="1468313"/>
            <a:ext cx="2125429" cy="865885"/>
          </a:xfrm>
          <a:prstGeom prst="flowChartProcess">
            <a:avLst/>
          </a:prstGeom>
          <a:ln>
            <a:prstDash val="lgDashDotDot"/>
          </a:ln>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ANTICIPATION </a:t>
            </a:r>
          </a:p>
          <a:p>
            <a:pPr algn="ctr"/>
            <a:r>
              <a:rPr lang="en-IN" sz="1600" b="1" dirty="0" smtClean="0">
                <a:solidFill>
                  <a:schemeClr val="tx1"/>
                </a:solidFill>
                <a:latin typeface="Times New Roman" panose="02020603050405020304" pitchFamily="18" charset="0"/>
                <a:cs typeface="Times New Roman" panose="02020603050405020304" pitchFamily="18" charset="0"/>
              </a:rPr>
              <a:t>(Pred on Test Data )</a:t>
            </a:r>
            <a:endParaRPr lang="en-IN" sz="1600" b="1" dirty="0">
              <a:solidFill>
                <a:schemeClr val="tx1"/>
              </a:solidFill>
              <a:latin typeface="Times New Roman" panose="02020603050405020304" pitchFamily="18" charset="0"/>
              <a:cs typeface="Times New Roman" panose="02020603050405020304" pitchFamily="18" charset="0"/>
            </a:endParaRPr>
          </a:p>
        </p:txBody>
      </p:sp>
      <p:cxnSp>
        <p:nvCxnSpPr>
          <p:cNvPr id="66" name="Straight Arrow Connector 65"/>
          <p:cNvCxnSpPr>
            <a:endCxn id="65" idx="1"/>
          </p:cNvCxnSpPr>
          <p:nvPr/>
        </p:nvCxnSpPr>
        <p:spPr>
          <a:xfrm>
            <a:off x="8958826" y="1901256"/>
            <a:ext cx="275218"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8" name="Flowchart: Process 67"/>
          <p:cNvSpPr/>
          <p:nvPr/>
        </p:nvSpPr>
        <p:spPr>
          <a:xfrm>
            <a:off x="9234044" y="2615156"/>
            <a:ext cx="2125429" cy="865885"/>
          </a:xfrm>
          <a:prstGeom prst="flowChartProcess">
            <a:avLst/>
          </a:prstGeom>
          <a:ln>
            <a:prstDash val="lgDashDotDot"/>
          </a:ln>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solidFill>
                  <a:srgbClr val="FF0000"/>
                </a:solidFill>
                <a:latin typeface="Times New Roman" panose="02020603050405020304" pitchFamily="18" charset="0"/>
                <a:cs typeface="Times New Roman" panose="02020603050405020304" pitchFamily="18" charset="0"/>
              </a:rPr>
              <a:t>METRICS ANALYZER</a:t>
            </a:r>
          </a:p>
        </p:txBody>
      </p:sp>
      <p:cxnSp>
        <p:nvCxnSpPr>
          <p:cNvPr id="53" name="Straight Arrow Connector 52"/>
          <p:cNvCxnSpPr>
            <a:stCxn id="65" idx="2"/>
          </p:cNvCxnSpPr>
          <p:nvPr/>
        </p:nvCxnSpPr>
        <p:spPr>
          <a:xfrm flipH="1">
            <a:off x="10296758" y="2334198"/>
            <a:ext cx="1" cy="28095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5" name="Flowchart: Process 74"/>
          <p:cNvSpPr/>
          <p:nvPr/>
        </p:nvSpPr>
        <p:spPr>
          <a:xfrm>
            <a:off x="6375981" y="3062898"/>
            <a:ext cx="2630085" cy="1452625"/>
          </a:xfrm>
          <a:prstGeom prst="flowChartProcess">
            <a:avLst/>
          </a:prstGeom>
          <a:ln/>
        </p:spPr>
        <p:style>
          <a:lnRef idx="1">
            <a:schemeClr val="accent5"/>
          </a:lnRef>
          <a:fillRef idx="2">
            <a:schemeClr val="accent5"/>
          </a:fillRef>
          <a:effectRef idx="1">
            <a:schemeClr val="accent5"/>
          </a:effectRef>
          <a:fontRef idx="minor">
            <a:schemeClr val="dk1"/>
          </a:fontRef>
        </p:style>
        <p:txBody>
          <a:bodyPr rtlCol="0" anchor="ctr"/>
          <a:lstStyle/>
          <a:p>
            <a:pPr lvl="0"/>
            <a:r>
              <a:rPr lang="en-IN" sz="1600" b="1" dirty="0">
                <a:latin typeface="Times New Roman" panose="02020603050405020304" pitchFamily="18" charset="0"/>
                <a:cs typeface="Times New Roman" panose="02020603050405020304" pitchFamily="18" charset="0"/>
              </a:rPr>
              <a:t>Random Forest  Algorithm     </a:t>
            </a:r>
            <a:endParaRPr lang="en-IN" sz="1600" dirty="0">
              <a:latin typeface="Times New Roman" panose="02020603050405020304" pitchFamily="18" charset="0"/>
              <a:cs typeface="Times New Roman" panose="02020603050405020304" pitchFamily="18" charset="0"/>
            </a:endParaRPr>
          </a:p>
          <a:p>
            <a:pPr lvl="0"/>
            <a:r>
              <a:rPr lang="en-IN" sz="1600" b="1" dirty="0">
                <a:latin typeface="Times New Roman" panose="02020603050405020304" pitchFamily="18" charset="0"/>
                <a:cs typeface="Times New Roman" panose="02020603050405020304" pitchFamily="18" charset="0"/>
              </a:rPr>
              <a:t>Decision Tree  Algorithm   </a:t>
            </a:r>
            <a:endParaRPr lang="en-IN" sz="1600" dirty="0">
              <a:latin typeface="Times New Roman" panose="02020603050405020304" pitchFamily="18" charset="0"/>
              <a:cs typeface="Times New Roman" panose="02020603050405020304" pitchFamily="18" charset="0"/>
            </a:endParaRPr>
          </a:p>
          <a:p>
            <a:pPr lvl="0"/>
            <a:r>
              <a:rPr lang="en-IN" sz="1600" b="1" dirty="0">
                <a:latin typeface="Times New Roman" panose="02020603050405020304" pitchFamily="18" charset="0"/>
                <a:cs typeface="Times New Roman" panose="02020603050405020304" pitchFamily="18" charset="0"/>
              </a:rPr>
              <a:t>CNN Algorithm   </a:t>
            </a:r>
            <a:endParaRPr lang="en-IN" sz="1600" dirty="0">
              <a:latin typeface="Times New Roman" panose="02020603050405020304" pitchFamily="18" charset="0"/>
              <a:cs typeface="Times New Roman" panose="02020603050405020304" pitchFamily="18" charset="0"/>
            </a:endParaRPr>
          </a:p>
          <a:p>
            <a:pPr lvl="0"/>
            <a:r>
              <a:rPr lang="en-IN" sz="1600" b="1" dirty="0">
                <a:latin typeface="Times New Roman" panose="02020603050405020304" pitchFamily="18" charset="0"/>
                <a:cs typeface="Times New Roman" panose="02020603050405020304" pitchFamily="18" charset="0"/>
              </a:rPr>
              <a:t>Hybrid CNN and LSTM Algorithm     </a:t>
            </a:r>
            <a:endParaRPr lang="en-IN" sz="1600" dirty="0">
              <a:latin typeface="Times New Roman" panose="02020603050405020304" pitchFamily="18" charset="0"/>
              <a:cs typeface="Times New Roman" panose="02020603050405020304" pitchFamily="18" charset="0"/>
            </a:endParaRPr>
          </a:p>
        </p:txBody>
      </p:sp>
      <p:cxnSp>
        <p:nvCxnSpPr>
          <p:cNvPr id="76" name="Straight Arrow Connector 75"/>
          <p:cNvCxnSpPr/>
          <p:nvPr/>
        </p:nvCxnSpPr>
        <p:spPr>
          <a:xfrm flipH="1">
            <a:off x="7651038" y="2781941"/>
            <a:ext cx="1" cy="28095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86" name="Rounded Rectangle 85"/>
          <p:cNvSpPr/>
          <p:nvPr/>
        </p:nvSpPr>
        <p:spPr>
          <a:xfrm>
            <a:off x="1282890" y="4959937"/>
            <a:ext cx="9812740" cy="1336130"/>
          </a:xfrm>
          <a:prstGeom prst="roundRect">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sp>
        <p:nvSpPr>
          <p:cNvPr id="88" name="Flowchart: Process 87"/>
          <p:cNvSpPr/>
          <p:nvPr/>
        </p:nvSpPr>
        <p:spPr>
          <a:xfrm>
            <a:off x="1680949" y="5163906"/>
            <a:ext cx="1869744" cy="865885"/>
          </a:xfrm>
          <a:prstGeom prst="flowChartProcess">
            <a:avLst/>
          </a:prstGeom>
          <a:ln>
            <a:prstDash val="lgDashDotDot"/>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smtClean="0">
                <a:solidFill>
                  <a:srgbClr val="FF0000"/>
                </a:solidFill>
                <a:latin typeface="Times New Roman" panose="02020603050405020304" pitchFamily="18" charset="0"/>
                <a:cs typeface="Times New Roman" panose="02020603050405020304" pitchFamily="18" charset="0"/>
              </a:rPr>
              <a:t>FEEDBACK </a:t>
            </a:r>
            <a:endParaRPr lang="en-IN" sz="1600" b="1" dirty="0">
              <a:solidFill>
                <a:srgbClr val="FF0000"/>
              </a:solidFill>
              <a:latin typeface="Times New Roman" panose="02020603050405020304" pitchFamily="18" charset="0"/>
              <a:cs typeface="Times New Roman" panose="02020603050405020304" pitchFamily="18" charset="0"/>
            </a:endParaRPr>
          </a:p>
        </p:txBody>
      </p:sp>
      <p:sp>
        <p:nvSpPr>
          <p:cNvPr id="89" name="Flowchart: Process 88"/>
          <p:cNvSpPr/>
          <p:nvPr/>
        </p:nvSpPr>
        <p:spPr>
          <a:xfrm>
            <a:off x="4031087" y="5163905"/>
            <a:ext cx="1869744" cy="865885"/>
          </a:xfrm>
          <a:prstGeom prst="flowChartProcess">
            <a:avLst/>
          </a:prstGeom>
          <a:ln>
            <a:prstDash val="lgDashDotDot"/>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smtClean="0">
                <a:solidFill>
                  <a:srgbClr val="FF0000"/>
                </a:solidFill>
                <a:latin typeface="Times New Roman" panose="02020603050405020304" pitchFamily="18" charset="0"/>
                <a:cs typeface="Times New Roman" panose="02020603050405020304" pitchFamily="18" charset="0"/>
              </a:rPr>
              <a:t>HONEYPOT   </a:t>
            </a:r>
            <a:r>
              <a:rPr lang="en-US" sz="1600" b="1" dirty="0" smtClean="0">
                <a:solidFill>
                  <a:srgbClr val="FF0000"/>
                </a:solidFill>
                <a:latin typeface="Times New Roman" panose="02020603050405020304" pitchFamily="18" charset="0"/>
                <a:cs typeface="Times New Roman" panose="02020603050405020304" pitchFamily="18" charset="0"/>
              </a:rPr>
              <a:t>ANALYSIS</a:t>
            </a:r>
            <a:endParaRPr lang="en-IN" sz="1600" b="1" dirty="0">
              <a:solidFill>
                <a:srgbClr val="FF0000"/>
              </a:solidFill>
              <a:latin typeface="Times New Roman" panose="02020603050405020304" pitchFamily="18" charset="0"/>
              <a:cs typeface="Times New Roman" panose="02020603050405020304" pitchFamily="18" charset="0"/>
            </a:endParaRPr>
          </a:p>
        </p:txBody>
      </p:sp>
      <p:sp>
        <p:nvSpPr>
          <p:cNvPr id="90" name="Flowchart: Process 89"/>
          <p:cNvSpPr/>
          <p:nvPr/>
        </p:nvSpPr>
        <p:spPr>
          <a:xfrm>
            <a:off x="6467582" y="5163904"/>
            <a:ext cx="1869744" cy="865885"/>
          </a:xfrm>
          <a:prstGeom prst="flowChartProcess">
            <a:avLst/>
          </a:prstGeom>
          <a:ln>
            <a:prstDash val="lgDashDotDot"/>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smtClean="0">
                <a:solidFill>
                  <a:srgbClr val="FF0000"/>
                </a:solidFill>
                <a:latin typeface="Times New Roman" panose="02020603050405020304" pitchFamily="18" charset="0"/>
                <a:cs typeface="Times New Roman" panose="02020603050405020304" pitchFamily="18" charset="0"/>
              </a:rPr>
              <a:t>HONEYPOT   </a:t>
            </a:r>
            <a:r>
              <a:rPr lang="en-US" sz="1600" b="1" dirty="0" smtClean="0">
                <a:solidFill>
                  <a:srgbClr val="FF0000"/>
                </a:solidFill>
                <a:latin typeface="Times New Roman" panose="02020603050405020304" pitchFamily="18" charset="0"/>
                <a:cs typeface="Times New Roman" panose="02020603050405020304" pitchFamily="18" charset="0"/>
              </a:rPr>
              <a:t>DETECTION </a:t>
            </a:r>
            <a:endParaRPr lang="en-IN" sz="1600" b="1" dirty="0">
              <a:solidFill>
                <a:srgbClr val="FF0000"/>
              </a:solidFill>
              <a:latin typeface="Times New Roman" panose="02020603050405020304" pitchFamily="18" charset="0"/>
              <a:cs typeface="Times New Roman" panose="02020603050405020304" pitchFamily="18" charset="0"/>
            </a:endParaRPr>
          </a:p>
        </p:txBody>
      </p:sp>
      <p:sp>
        <p:nvSpPr>
          <p:cNvPr id="91" name="Flowchart: Process 90"/>
          <p:cNvSpPr/>
          <p:nvPr/>
        </p:nvSpPr>
        <p:spPr>
          <a:xfrm>
            <a:off x="8817059" y="5148315"/>
            <a:ext cx="1869744" cy="865885"/>
          </a:xfrm>
          <a:prstGeom prst="flowChartProcess">
            <a:avLst/>
          </a:prstGeom>
          <a:ln>
            <a:prstDash val="lgDashDotDot"/>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smtClean="0">
                <a:solidFill>
                  <a:srgbClr val="FF0000"/>
                </a:solidFill>
                <a:latin typeface="Times New Roman" panose="02020603050405020304" pitchFamily="18" charset="0"/>
                <a:cs typeface="Times New Roman" panose="02020603050405020304" pitchFamily="18" charset="0"/>
              </a:rPr>
              <a:t>HONEYPOT  </a:t>
            </a:r>
            <a:r>
              <a:rPr lang="en-US" sz="1600" b="1" dirty="0" smtClean="0">
                <a:solidFill>
                  <a:srgbClr val="FF0000"/>
                </a:solidFill>
                <a:latin typeface="Times New Roman" panose="02020603050405020304" pitchFamily="18" charset="0"/>
                <a:cs typeface="Times New Roman" panose="02020603050405020304" pitchFamily="18" charset="0"/>
              </a:rPr>
              <a:t>CALCULATION</a:t>
            </a:r>
            <a:endParaRPr lang="en-IN" sz="1600" b="1" dirty="0">
              <a:solidFill>
                <a:srgbClr val="FF0000"/>
              </a:solidFill>
              <a:latin typeface="Times New Roman" panose="02020603050405020304" pitchFamily="18" charset="0"/>
              <a:cs typeface="Times New Roman" panose="02020603050405020304" pitchFamily="18" charset="0"/>
            </a:endParaRPr>
          </a:p>
        </p:txBody>
      </p:sp>
      <p:cxnSp>
        <p:nvCxnSpPr>
          <p:cNvPr id="92" name="Elbow Connector 91"/>
          <p:cNvCxnSpPr>
            <a:stCxn id="47" idx="2"/>
            <a:endCxn id="64" idx="0"/>
          </p:cNvCxnSpPr>
          <p:nvPr/>
        </p:nvCxnSpPr>
        <p:spPr>
          <a:xfrm rot="5400000" flipH="1" flipV="1">
            <a:off x="4269945" y="485632"/>
            <a:ext cx="2414777" cy="4380139"/>
          </a:xfrm>
          <a:prstGeom prst="bentConnector5">
            <a:avLst>
              <a:gd name="adj1" fmla="val -26988"/>
              <a:gd name="adj2" fmla="val 62081"/>
              <a:gd name="adj3" fmla="val 117945"/>
            </a:avLst>
          </a:prstGeom>
          <a:ln w="38100">
            <a:prstDash val="dash"/>
            <a:tailEnd type="triangle"/>
          </a:ln>
        </p:spPr>
        <p:style>
          <a:lnRef idx="1">
            <a:schemeClr val="dk1"/>
          </a:lnRef>
          <a:fillRef idx="0">
            <a:schemeClr val="dk1"/>
          </a:fillRef>
          <a:effectRef idx="0">
            <a:schemeClr val="dk1"/>
          </a:effectRef>
          <a:fontRef idx="minor">
            <a:schemeClr val="tx1"/>
          </a:fontRef>
        </p:style>
      </p:cxnSp>
      <p:cxnSp>
        <p:nvCxnSpPr>
          <p:cNvPr id="93" name="Elbow Connector 92"/>
          <p:cNvCxnSpPr>
            <a:stCxn id="65" idx="3"/>
            <a:endCxn id="86" idx="1"/>
          </p:cNvCxnSpPr>
          <p:nvPr/>
        </p:nvCxnSpPr>
        <p:spPr>
          <a:xfrm flipH="1">
            <a:off x="1282890" y="1901256"/>
            <a:ext cx="10076583" cy="3726746"/>
          </a:xfrm>
          <a:prstGeom prst="bentConnector5">
            <a:avLst>
              <a:gd name="adj1" fmla="val -3353"/>
              <a:gd name="adj2" fmla="val 78705"/>
              <a:gd name="adj3" fmla="val 102269"/>
            </a:avLst>
          </a:prstGeom>
          <a:ln w="38100">
            <a:prstDash val="sysDash"/>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p:cNvCxnSpPr/>
          <p:nvPr/>
        </p:nvCxnSpPr>
        <p:spPr>
          <a:xfrm>
            <a:off x="3550693" y="5628002"/>
            <a:ext cx="480394" cy="0"/>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p:cNvCxnSpPr/>
          <p:nvPr/>
        </p:nvCxnSpPr>
        <p:spPr>
          <a:xfrm>
            <a:off x="5987188" y="5594458"/>
            <a:ext cx="480394" cy="0"/>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cxnSp>
        <p:nvCxnSpPr>
          <p:cNvPr id="102" name="Straight Arrow Connector 101"/>
          <p:cNvCxnSpPr/>
          <p:nvPr/>
        </p:nvCxnSpPr>
        <p:spPr>
          <a:xfrm>
            <a:off x="8337326" y="5594458"/>
            <a:ext cx="480394" cy="0"/>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942225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60109"/>
            <a:ext cx="10515600" cy="1325563"/>
          </a:xfrm>
        </p:spPr>
        <p:txBody>
          <a:bodyPr>
            <a:normAutofit/>
          </a:bodyPr>
          <a:lstStyle/>
          <a:p>
            <a:r>
              <a:rPr lang="en-IN" sz="3600" b="1" dirty="0" smtClean="0">
                <a:latin typeface="Times New Roman" panose="02020603050405020304" pitchFamily="18" charset="0"/>
                <a:cs typeface="Times New Roman" panose="02020603050405020304" pitchFamily="18" charset="0"/>
              </a:rPr>
              <a:t>USECASE- DIAGRAM </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25" name="Group 24"/>
          <p:cNvGrpSpPr/>
          <p:nvPr/>
        </p:nvGrpSpPr>
        <p:grpSpPr>
          <a:xfrm>
            <a:off x="559557" y="3267920"/>
            <a:ext cx="941695" cy="1467853"/>
            <a:chOff x="477671" y="1602893"/>
            <a:chExt cx="941695" cy="1467853"/>
          </a:xfrm>
        </p:grpSpPr>
        <p:sp>
          <p:nvSpPr>
            <p:cNvPr id="3" name="Oval 2"/>
            <p:cNvSpPr/>
            <p:nvPr/>
          </p:nvSpPr>
          <p:spPr>
            <a:xfrm>
              <a:off x="477671" y="1602893"/>
              <a:ext cx="941695" cy="723331"/>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cxnSp>
          <p:nvCxnSpPr>
            <p:cNvPr id="6" name="Straight Connector 5"/>
            <p:cNvCxnSpPr>
              <a:stCxn id="3" idx="4"/>
            </p:cNvCxnSpPr>
            <p:nvPr/>
          </p:nvCxnSpPr>
          <p:spPr>
            <a:xfrm flipH="1">
              <a:off x="948518" y="2326224"/>
              <a:ext cx="1" cy="744522"/>
            </a:xfrm>
            <a:prstGeom prst="line">
              <a:avLst/>
            </a:prstGeom>
            <a:ln w="12700">
              <a:prstDash val="dash"/>
            </a:ln>
          </p:spPr>
          <p:style>
            <a:lnRef idx="2">
              <a:schemeClr val="dk1"/>
            </a:lnRef>
            <a:fillRef idx="1">
              <a:schemeClr val="lt1"/>
            </a:fillRef>
            <a:effectRef idx="0">
              <a:schemeClr val="dk1"/>
            </a:effectRef>
            <a:fontRef idx="minor">
              <a:schemeClr val="dk1"/>
            </a:fontRef>
          </p:style>
        </p:cxnSp>
        <p:cxnSp>
          <p:nvCxnSpPr>
            <p:cNvPr id="8" name="Straight Connector 7"/>
            <p:cNvCxnSpPr/>
            <p:nvPr/>
          </p:nvCxnSpPr>
          <p:spPr>
            <a:xfrm>
              <a:off x="559556" y="2480121"/>
              <a:ext cx="777923" cy="0"/>
            </a:xfrm>
            <a:prstGeom prst="line">
              <a:avLst/>
            </a:prstGeom>
            <a:ln w="12700">
              <a:prstDash val="dash"/>
            </a:ln>
          </p:spPr>
          <p:style>
            <a:lnRef idx="2">
              <a:schemeClr val="dk1"/>
            </a:lnRef>
            <a:fillRef idx="1">
              <a:schemeClr val="lt1"/>
            </a:fillRef>
            <a:effectRef idx="0">
              <a:schemeClr val="dk1"/>
            </a:effectRef>
            <a:fontRef idx="minor">
              <a:schemeClr val="dk1"/>
            </a:fontRef>
          </p:style>
        </p:cxnSp>
        <p:cxnSp>
          <p:nvCxnSpPr>
            <p:cNvPr id="11" name="Straight Connector 10"/>
            <p:cNvCxnSpPr/>
            <p:nvPr/>
          </p:nvCxnSpPr>
          <p:spPr>
            <a:xfrm flipH="1">
              <a:off x="723331" y="2480121"/>
              <a:ext cx="225186" cy="218364"/>
            </a:xfrm>
            <a:prstGeom prst="line">
              <a:avLst/>
            </a:prstGeom>
            <a:ln w="12700">
              <a:prstDash val="dash"/>
            </a:ln>
          </p:spPr>
          <p:style>
            <a:lnRef idx="2">
              <a:schemeClr val="dk1"/>
            </a:lnRef>
            <a:fillRef idx="1">
              <a:schemeClr val="lt1"/>
            </a:fillRef>
            <a:effectRef idx="0">
              <a:schemeClr val="dk1"/>
            </a:effectRef>
            <a:fontRef idx="minor">
              <a:schemeClr val="dk1"/>
            </a:fontRef>
          </p:style>
        </p:cxnSp>
        <p:cxnSp>
          <p:nvCxnSpPr>
            <p:cNvPr id="21" name="Straight Connector 20"/>
            <p:cNvCxnSpPr/>
            <p:nvPr/>
          </p:nvCxnSpPr>
          <p:spPr>
            <a:xfrm>
              <a:off x="948517" y="2471412"/>
              <a:ext cx="261867" cy="218364"/>
            </a:xfrm>
            <a:prstGeom prst="line">
              <a:avLst/>
            </a:prstGeom>
            <a:ln w="12700">
              <a:prstDash val="dash"/>
            </a:ln>
          </p:spPr>
          <p:style>
            <a:lnRef idx="2">
              <a:schemeClr val="dk1"/>
            </a:lnRef>
            <a:fillRef idx="1">
              <a:schemeClr val="lt1"/>
            </a:fillRef>
            <a:effectRef idx="0">
              <a:schemeClr val="dk1"/>
            </a:effectRef>
            <a:fontRef idx="minor">
              <a:schemeClr val="dk1"/>
            </a:fontRef>
          </p:style>
        </p:cxnSp>
      </p:grpSp>
      <p:sp>
        <p:nvSpPr>
          <p:cNvPr id="29" name="Rectangle 28"/>
          <p:cNvSpPr/>
          <p:nvPr/>
        </p:nvSpPr>
        <p:spPr>
          <a:xfrm>
            <a:off x="719493" y="2821640"/>
            <a:ext cx="699872" cy="369332"/>
          </a:xfrm>
          <a:prstGeom prst="rect">
            <a:avLst/>
          </a:prstGeom>
        </p:spPr>
        <p:txBody>
          <a:bodyPr wrap="none">
            <a:spAutoFit/>
          </a:bodyPr>
          <a:lstStyle/>
          <a:p>
            <a:r>
              <a:rPr lang="en-IN" b="1" dirty="0" smtClean="0">
                <a:solidFill>
                  <a:srgbClr val="FF0000"/>
                </a:solidFill>
                <a:latin typeface="Times New Roman" panose="02020603050405020304" pitchFamily="18" charset="0"/>
                <a:cs typeface="Times New Roman" panose="02020603050405020304" pitchFamily="18" charset="0"/>
              </a:rPr>
              <a:t>User </a:t>
            </a:r>
            <a:endParaRPr lang="en-IN" dirty="0"/>
          </a:p>
        </p:txBody>
      </p:sp>
      <p:sp>
        <p:nvSpPr>
          <p:cNvPr id="5" name="Oval 4"/>
          <p:cNvSpPr/>
          <p:nvPr/>
        </p:nvSpPr>
        <p:spPr>
          <a:xfrm>
            <a:off x="7820968" y="1585672"/>
            <a:ext cx="3630304" cy="761743"/>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IN" b="1" dirty="0">
              <a:latin typeface="Times New Roman" panose="02020603050405020304" pitchFamily="18" charset="0"/>
              <a:cs typeface="Times New Roman" panose="02020603050405020304" pitchFamily="18" charset="0"/>
            </a:endParaRPr>
          </a:p>
          <a:p>
            <a:pPr algn="ctr"/>
            <a:r>
              <a:rPr lang="en-IN" b="1" dirty="0" smtClean="0">
                <a:solidFill>
                  <a:srgbClr val="FF0000"/>
                </a:solidFill>
                <a:latin typeface="Times New Roman" panose="02020603050405020304" pitchFamily="18" charset="0"/>
                <a:cs typeface="Times New Roman" panose="02020603050405020304" pitchFamily="18" charset="0"/>
              </a:rPr>
              <a:t>HONEYPOT  </a:t>
            </a:r>
            <a:endParaRPr lang="en-IN" b="1"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DATASET </a:t>
            </a:r>
          </a:p>
          <a:p>
            <a:pPr algn="ctr"/>
            <a:endParaRPr lang="en-IN" b="1" dirty="0">
              <a:latin typeface="Times New Roman" panose="02020603050405020304" pitchFamily="18" charset="0"/>
              <a:cs typeface="Times New Roman" panose="02020603050405020304" pitchFamily="18" charset="0"/>
            </a:endParaRPr>
          </a:p>
        </p:txBody>
      </p:sp>
      <p:sp>
        <p:nvSpPr>
          <p:cNvPr id="14" name="Oval 13"/>
          <p:cNvSpPr/>
          <p:nvPr/>
        </p:nvSpPr>
        <p:spPr>
          <a:xfrm>
            <a:off x="2743200" y="2074460"/>
            <a:ext cx="1782916" cy="559859"/>
          </a:xfrm>
          <a:prstGeom prst="ellipse">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smtClean="0">
                <a:solidFill>
                  <a:schemeClr val="tx1"/>
                </a:solidFill>
                <a:latin typeface="Times New Roman" panose="02020603050405020304" pitchFamily="18" charset="0"/>
                <a:cs typeface="Times New Roman" panose="02020603050405020304" pitchFamily="18" charset="0"/>
              </a:rPr>
              <a:t>START </a:t>
            </a:r>
            <a:endParaRPr lang="en-IN" b="1" dirty="0">
              <a:solidFill>
                <a:schemeClr val="tx1"/>
              </a:solidFill>
              <a:latin typeface="Times New Roman" panose="02020603050405020304" pitchFamily="18" charset="0"/>
              <a:cs typeface="Times New Roman" panose="02020603050405020304" pitchFamily="18" charset="0"/>
            </a:endParaRPr>
          </a:p>
        </p:txBody>
      </p:sp>
      <p:cxnSp>
        <p:nvCxnSpPr>
          <p:cNvPr id="10" name="Straight Arrow Connector 9"/>
          <p:cNvCxnSpPr/>
          <p:nvPr/>
        </p:nvCxnSpPr>
        <p:spPr>
          <a:xfrm flipV="1">
            <a:off x="1501252" y="2653281"/>
            <a:ext cx="1696445" cy="1491867"/>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sp>
        <p:nvSpPr>
          <p:cNvPr id="26" name="Oval 25"/>
          <p:cNvSpPr/>
          <p:nvPr/>
        </p:nvSpPr>
        <p:spPr>
          <a:xfrm>
            <a:off x="2930267" y="5809887"/>
            <a:ext cx="1881511" cy="579909"/>
          </a:xfrm>
          <a:prstGeom prst="ellipse">
            <a:avLst/>
          </a:prstGeom>
          <a:ln w="38100">
            <a:solidFill>
              <a:schemeClr val="tx1"/>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smtClean="0">
                <a:solidFill>
                  <a:schemeClr val="tx1"/>
                </a:solidFill>
                <a:latin typeface="Times New Roman" panose="02020603050405020304" pitchFamily="18" charset="0"/>
                <a:cs typeface="Times New Roman" panose="02020603050405020304" pitchFamily="18" charset="0"/>
              </a:rPr>
              <a:t>END </a:t>
            </a:r>
            <a:endParaRPr lang="en-IN" b="1" dirty="0">
              <a:solidFill>
                <a:schemeClr val="tx1"/>
              </a:solidFill>
              <a:latin typeface="Times New Roman" panose="02020603050405020304" pitchFamily="18" charset="0"/>
              <a:cs typeface="Times New Roman" panose="02020603050405020304" pitchFamily="18" charset="0"/>
            </a:endParaRPr>
          </a:p>
        </p:txBody>
      </p:sp>
      <p:cxnSp>
        <p:nvCxnSpPr>
          <p:cNvPr id="27" name="Straight Arrow Connector 26"/>
          <p:cNvCxnSpPr>
            <a:endCxn id="26" idx="0"/>
          </p:cNvCxnSpPr>
          <p:nvPr/>
        </p:nvCxnSpPr>
        <p:spPr>
          <a:xfrm>
            <a:off x="1516928" y="4164110"/>
            <a:ext cx="2354095" cy="1645777"/>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sp>
        <p:nvSpPr>
          <p:cNvPr id="28" name="Oval 27"/>
          <p:cNvSpPr/>
          <p:nvPr/>
        </p:nvSpPr>
        <p:spPr>
          <a:xfrm>
            <a:off x="7820967" y="2524097"/>
            <a:ext cx="3630305" cy="774276"/>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b="1" dirty="0">
                <a:solidFill>
                  <a:srgbClr val="FF0000"/>
                </a:solidFill>
                <a:latin typeface="Times New Roman" panose="02020603050405020304" pitchFamily="18" charset="0"/>
                <a:cs typeface="Times New Roman" panose="02020603050405020304" pitchFamily="18" charset="0"/>
              </a:rPr>
              <a:t>DATA</a:t>
            </a:r>
            <a:r>
              <a:rPr lang="en-IN" b="1" dirty="0">
                <a:solidFill>
                  <a:schemeClr val="tx1"/>
                </a:solidFill>
                <a:latin typeface="Times New Roman" panose="02020603050405020304" pitchFamily="18" charset="0"/>
                <a:cs typeface="Times New Roman" panose="02020603050405020304" pitchFamily="18" charset="0"/>
              </a:rPr>
              <a:t> CLEANING </a:t>
            </a:r>
          </a:p>
          <a:p>
            <a:pPr algn="ctr"/>
            <a:r>
              <a:rPr lang="en-IN" b="1" dirty="0">
                <a:solidFill>
                  <a:schemeClr val="tx1"/>
                </a:solidFill>
                <a:latin typeface="Times New Roman" panose="02020603050405020304" pitchFamily="18" charset="0"/>
                <a:cs typeface="Times New Roman" panose="02020603050405020304" pitchFamily="18" charset="0"/>
              </a:rPr>
              <a:t>&amp; NORMALIZATION </a:t>
            </a:r>
          </a:p>
        </p:txBody>
      </p:sp>
      <p:sp>
        <p:nvSpPr>
          <p:cNvPr id="30" name="Oval 29"/>
          <p:cNvSpPr/>
          <p:nvPr/>
        </p:nvSpPr>
        <p:spPr>
          <a:xfrm>
            <a:off x="7820967" y="3546965"/>
            <a:ext cx="3630305" cy="888571"/>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b="1" dirty="0">
                <a:solidFill>
                  <a:srgbClr val="FF0000"/>
                </a:solidFill>
                <a:latin typeface="Times New Roman" panose="02020603050405020304" pitchFamily="18" charset="0"/>
                <a:cs typeface="Times New Roman" panose="02020603050405020304" pitchFamily="18" charset="0"/>
              </a:rPr>
              <a:t>DATA PARTITIONING</a:t>
            </a:r>
          </a:p>
          <a:p>
            <a:pPr algn="ctr"/>
            <a:r>
              <a:rPr lang="en-IN" b="1" dirty="0">
                <a:solidFill>
                  <a:schemeClr val="tx1"/>
                </a:solidFill>
                <a:latin typeface="Times New Roman" panose="02020603050405020304" pitchFamily="18" charset="0"/>
                <a:cs typeface="Times New Roman" panose="02020603050405020304" pitchFamily="18" charset="0"/>
              </a:rPr>
              <a:t>(TRAIN AND TEST)</a:t>
            </a:r>
          </a:p>
        </p:txBody>
      </p:sp>
      <p:sp>
        <p:nvSpPr>
          <p:cNvPr id="31" name="Oval 30"/>
          <p:cNvSpPr/>
          <p:nvPr/>
        </p:nvSpPr>
        <p:spPr>
          <a:xfrm>
            <a:off x="7820967" y="4567869"/>
            <a:ext cx="3630305" cy="896603"/>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b="1" dirty="0">
                <a:solidFill>
                  <a:srgbClr val="FF0000"/>
                </a:solidFill>
                <a:latin typeface="Times New Roman" panose="02020603050405020304" pitchFamily="18" charset="0"/>
                <a:cs typeface="Times New Roman" panose="02020603050405020304" pitchFamily="18" charset="0"/>
              </a:rPr>
              <a:t>MODEL TRAINING</a:t>
            </a:r>
          </a:p>
          <a:p>
            <a:pPr algn="ctr"/>
            <a:r>
              <a:rPr lang="en-US" b="1" dirty="0">
                <a:solidFill>
                  <a:schemeClr val="tx1"/>
                </a:solidFill>
                <a:latin typeface="Times New Roman" panose="02020603050405020304" pitchFamily="18" charset="0"/>
                <a:cs typeface="Times New Roman" panose="02020603050405020304" pitchFamily="18" charset="0"/>
              </a:rPr>
              <a:t>(</a:t>
            </a:r>
            <a:r>
              <a:rPr lang="en-IN" b="1" dirty="0">
                <a:solidFill>
                  <a:schemeClr val="tx1"/>
                </a:solidFill>
                <a:latin typeface="Times New Roman" panose="02020603050405020304" pitchFamily="18" charset="0"/>
                <a:cs typeface="Times New Roman" panose="02020603050405020304" pitchFamily="18" charset="0"/>
              </a:rPr>
              <a:t>DL ALGORITHM ON TRAIN DATA  </a:t>
            </a:r>
            <a:r>
              <a:rPr lang="en-US" b="1" dirty="0">
                <a:solidFill>
                  <a:schemeClr val="tx1"/>
                </a:solidFill>
                <a:latin typeface="Times New Roman" panose="02020603050405020304" pitchFamily="18" charset="0"/>
                <a:cs typeface="Times New Roman" panose="02020603050405020304" pitchFamily="18" charset="0"/>
              </a:rPr>
              <a: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2" name="Oval 31"/>
          <p:cNvSpPr/>
          <p:nvPr/>
        </p:nvSpPr>
        <p:spPr>
          <a:xfrm>
            <a:off x="7820966" y="5647885"/>
            <a:ext cx="3630305" cy="817273"/>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rgbClr val="FF0000"/>
              </a:solidFill>
              <a:latin typeface="Times New Roman" panose="02020603050405020304" pitchFamily="18" charset="0"/>
              <a:cs typeface="Times New Roman" panose="02020603050405020304" pitchFamily="18" charset="0"/>
            </a:endParaRPr>
          </a:p>
          <a:p>
            <a:pPr algn="ctr"/>
            <a:r>
              <a:rPr lang="en-US" b="1" dirty="0" smtClean="0">
                <a:solidFill>
                  <a:srgbClr val="FF0000"/>
                </a:solidFill>
                <a:latin typeface="Times New Roman" panose="02020603050405020304" pitchFamily="18" charset="0"/>
                <a:cs typeface="Times New Roman" panose="02020603050405020304" pitchFamily="18" charset="0"/>
              </a:rPr>
              <a:t>HONEYPOT  </a:t>
            </a:r>
            <a:endParaRPr lang="en-US" b="1" dirty="0">
              <a:solidFill>
                <a:schemeClr val="tx1"/>
              </a:solidFill>
              <a:latin typeface="Times New Roman" panose="02020603050405020304" pitchFamily="18" charset="0"/>
              <a:cs typeface="Times New Roman" panose="02020603050405020304" pitchFamily="18" charset="0"/>
            </a:endParaRPr>
          </a:p>
          <a:p>
            <a:pPr algn="ctr"/>
            <a:r>
              <a:rPr lang="en-US" b="1" dirty="0">
                <a:solidFill>
                  <a:schemeClr val="tx1"/>
                </a:solidFill>
                <a:latin typeface="Times New Roman" panose="02020603050405020304" pitchFamily="18" charset="0"/>
                <a:cs typeface="Times New Roman" panose="02020603050405020304" pitchFamily="18" charset="0"/>
              </a:rPr>
              <a:t>METICES</a:t>
            </a:r>
            <a:r>
              <a:rPr lang="en-US" b="1" dirty="0">
                <a:solidFill>
                  <a:srgbClr val="FF0000"/>
                </a:solidFill>
                <a:latin typeface="Times New Roman" panose="02020603050405020304" pitchFamily="18" charset="0"/>
                <a:cs typeface="Times New Roman" panose="02020603050405020304" pitchFamily="18" charset="0"/>
              </a:rPr>
              <a:t> ANALYSER </a:t>
            </a:r>
            <a:endParaRPr lang="en-IN" b="1" dirty="0">
              <a:solidFill>
                <a:schemeClr val="tx1"/>
              </a:solidFill>
              <a:latin typeface="Times New Roman" panose="02020603050405020304" pitchFamily="18" charset="0"/>
              <a:cs typeface="Times New Roman" panose="02020603050405020304" pitchFamily="18" charset="0"/>
            </a:endParaRPr>
          </a:p>
          <a:p>
            <a:pPr algn="ctr"/>
            <a:r>
              <a:rPr lang="en-US" b="1" dirty="0">
                <a:solidFill>
                  <a:schemeClr val="tx1"/>
                </a:solidFill>
                <a:latin typeface="Times New Roman" panose="02020603050405020304" pitchFamily="18" charset="0"/>
                <a:cs typeface="Times New Roman" panose="02020603050405020304" pitchFamily="18" charset="0"/>
              </a:rPr>
              <a:t> </a:t>
            </a:r>
            <a:endParaRPr lang="en-IN" b="1" dirty="0">
              <a:solidFill>
                <a:schemeClr val="tx1"/>
              </a:solidFill>
              <a:latin typeface="Times New Roman" panose="02020603050405020304" pitchFamily="18" charset="0"/>
              <a:cs typeface="Times New Roman" panose="02020603050405020304" pitchFamily="18" charset="0"/>
            </a:endParaRPr>
          </a:p>
        </p:txBody>
      </p:sp>
      <p:cxnSp>
        <p:nvCxnSpPr>
          <p:cNvPr id="24" name="Straight Arrow Connector 23"/>
          <p:cNvCxnSpPr>
            <a:stCxn id="14" idx="6"/>
            <a:endCxn id="5" idx="2"/>
          </p:cNvCxnSpPr>
          <p:nvPr/>
        </p:nvCxnSpPr>
        <p:spPr>
          <a:xfrm flipV="1">
            <a:off x="4526116" y="1966544"/>
            <a:ext cx="3294852" cy="387846"/>
          </a:xfrm>
          <a:prstGeom prst="straightConnector1">
            <a:avLst/>
          </a:prstGeom>
          <a:ln w="28575">
            <a:solidFill>
              <a:srgbClr val="FF0000"/>
            </a:solidFill>
            <a:prstDash val="dash"/>
            <a:tailEnd type="triangle"/>
          </a:ln>
        </p:spPr>
        <p:style>
          <a:lnRef idx="3">
            <a:schemeClr val="dk1"/>
          </a:lnRef>
          <a:fillRef idx="0">
            <a:schemeClr val="dk1"/>
          </a:fillRef>
          <a:effectRef idx="2">
            <a:schemeClr val="dk1"/>
          </a:effectRef>
          <a:fontRef idx="minor">
            <a:schemeClr val="tx1"/>
          </a:fontRef>
        </p:style>
      </p:cxnSp>
      <p:cxnSp>
        <p:nvCxnSpPr>
          <p:cNvPr id="34" name="Straight Arrow Connector 33"/>
          <p:cNvCxnSpPr>
            <a:stCxn id="14" idx="6"/>
            <a:endCxn id="28" idx="2"/>
          </p:cNvCxnSpPr>
          <p:nvPr/>
        </p:nvCxnSpPr>
        <p:spPr>
          <a:xfrm>
            <a:off x="4526116" y="2354390"/>
            <a:ext cx="3294851" cy="556845"/>
          </a:xfrm>
          <a:prstGeom prst="straightConnector1">
            <a:avLst/>
          </a:prstGeom>
          <a:ln w="28575">
            <a:solidFill>
              <a:srgbClr val="FF0000"/>
            </a:solidFill>
            <a:prstDash val="dash"/>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p:cNvCxnSpPr>
            <a:stCxn id="14" idx="6"/>
            <a:endCxn id="30" idx="2"/>
          </p:cNvCxnSpPr>
          <p:nvPr/>
        </p:nvCxnSpPr>
        <p:spPr>
          <a:xfrm>
            <a:off x="4526116" y="2354390"/>
            <a:ext cx="3294851" cy="1636861"/>
          </a:xfrm>
          <a:prstGeom prst="straightConnector1">
            <a:avLst/>
          </a:prstGeom>
          <a:ln w="28575">
            <a:solidFill>
              <a:srgbClr val="FF0000"/>
            </a:solidFill>
            <a:prstDash val="dash"/>
            <a:tailEnd type="triangle"/>
          </a:ln>
        </p:spPr>
        <p:style>
          <a:lnRef idx="3">
            <a:schemeClr val="dk1"/>
          </a:lnRef>
          <a:fillRef idx="0">
            <a:schemeClr val="dk1"/>
          </a:fillRef>
          <a:effectRef idx="2">
            <a:schemeClr val="dk1"/>
          </a:effectRef>
          <a:fontRef idx="minor">
            <a:schemeClr val="tx1"/>
          </a:fontRef>
        </p:style>
      </p:cxnSp>
      <p:cxnSp>
        <p:nvCxnSpPr>
          <p:cNvPr id="40" name="Straight Arrow Connector 39"/>
          <p:cNvCxnSpPr>
            <a:stCxn id="14" idx="6"/>
            <a:endCxn id="31" idx="2"/>
          </p:cNvCxnSpPr>
          <p:nvPr/>
        </p:nvCxnSpPr>
        <p:spPr>
          <a:xfrm>
            <a:off x="4526116" y="2354390"/>
            <a:ext cx="3294851" cy="2661781"/>
          </a:xfrm>
          <a:prstGeom prst="straightConnector1">
            <a:avLst/>
          </a:prstGeom>
          <a:ln w="28575">
            <a:solidFill>
              <a:srgbClr val="FF0000"/>
            </a:solidFill>
            <a:prstDash val="dash"/>
            <a:tailEnd type="triangle"/>
          </a:ln>
        </p:spPr>
        <p:style>
          <a:lnRef idx="3">
            <a:schemeClr val="dk1"/>
          </a:lnRef>
          <a:fillRef idx="0">
            <a:schemeClr val="dk1"/>
          </a:fillRef>
          <a:effectRef idx="2">
            <a:schemeClr val="dk1"/>
          </a:effectRef>
          <a:fontRef idx="minor">
            <a:schemeClr val="tx1"/>
          </a:fontRef>
        </p:style>
      </p:cxnSp>
      <p:cxnSp>
        <p:nvCxnSpPr>
          <p:cNvPr id="43" name="Straight Arrow Connector 42"/>
          <p:cNvCxnSpPr>
            <a:stCxn id="14" idx="6"/>
            <a:endCxn id="32" idx="2"/>
          </p:cNvCxnSpPr>
          <p:nvPr/>
        </p:nvCxnSpPr>
        <p:spPr>
          <a:xfrm>
            <a:off x="4526116" y="2354390"/>
            <a:ext cx="3294850" cy="3702132"/>
          </a:xfrm>
          <a:prstGeom prst="straightConnector1">
            <a:avLst/>
          </a:prstGeom>
          <a:ln w="28575">
            <a:solidFill>
              <a:srgbClr val="FF0000"/>
            </a:solidFill>
            <a:prstDash val="dash"/>
            <a:tailEnd type="triangle"/>
          </a:ln>
        </p:spPr>
        <p:style>
          <a:lnRef idx="3">
            <a:schemeClr val="dk1"/>
          </a:lnRef>
          <a:fillRef idx="0">
            <a:schemeClr val="dk1"/>
          </a:fillRef>
          <a:effectRef idx="2">
            <a:schemeClr val="dk1"/>
          </a:effectRef>
          <a:fontRef idx="minor">
            <a:schemeClr val="tx1"/>
          </a:fontRef>
        </p:style>
      </p:cxnSp>
      <p:cxnSp>
        <p:nvCxnSpPr>
          <p:cNvPr id="53" name="Straight Arrow Connector 52"/>
          <p:cNvCxnSpPr>
            <a:stCxn id="26" idx="6"/>
            <a:endCxn id="32" idx="2"/>
          </p:cNvCxnSpPr>
          <p:nvPr/>
        </p:nvCxnSpPr>
        <p:spPr>
          <a:xfrm flipV="1">
            <a:off x="4811778" y="6056522"/>
            <a:ext cx="3009188" cy="43320"/>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621613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59631"/>
            <a:ext cx="10662747" cy="1303867"/>
          </a:xfrm>
        </p:spPr>
        <p:txBody>
          <a:bodyPr>
            <a:normAutofit/>
          </a:bodyPr>
          <a:lstStyle/>
          <a:p>
            <a:r>
              <a:rPr lang="en-IN" sz="3600" b="1" dirty="0" smtClean="0">
                <a:latin typeface="Times New Roman" panose="02020603050405020304" pitchFamily="18" charset="0"/>
                <a:cs typeface="Times New Roman" panose="02020603050405020304" pitchFamily="18" charset="0"/>
              </a:rPr>
              <a:t>ER ARCHITECTURE</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3" name="Rectangle 19"/>
          <p:cNvSpPr>
            <a:spLocks noChangeArrowheads="1"/>
          </p:cNvSpPr>
          <p:nvPr/>
        </p:nvSpPr>
        <p:spPr bwMode="auto">
          <a:xfrm>
            <a:off x="2202287" y="-26272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4" name="Rectangle 27"/>
          <p:cNvSpPr>
            <a:spLocks noChangeArrowheads="1"/>
          </p:cNvSpPr>
          <p:nvPr/>
        </p:nvSpPr>
        <p:spPr bwMode="auto">
          <a:xfrm>
            <a:off x="4031087" y="-21700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5" name="Flowchart: Process 34"/>
          <p:cNvSpPr/>
          <p:nvPr/>
        </p:nvSpPr>
        <p:spPr>
          <a:xfrm>
            <a:off x="1865452" y="2719750"/>
            <a:ext cx="2242909" cy="1661182"/>
          </a:xfrm>
          <a:prstGeom prst="flowChartProcess">
            <a:avLst/>
          </a:prstGeom>
          <a:ln w="38100">
            <a:prstDash val="solid"/>
          </a:ln>
        </p:spPr>
        <p:style>
          <a:lnRef idx="2">
            <a:schemeClr val="dk1"/>
          </a:lnRef>
          <a:fillRef idx="1">
            <a:schemeClr val="lt1"/>
          </a:fillRef>
          <a:effectRef idx="0">
            <a:schemeClr val="dk1"/>
          </a:effectRef>
          <a:fontRef idx="minor">
            <a:schemeClr val="dk1"/>
          </a:fontRef>
        </p:style>
        <p:txBody>
          <a:bodyPr rtlCol="0" anchor="ctr"/>
          <a:lstStyle/>
          <a:p>
            <a:pPr algn="ctr"/>
            <a:endParaRPr lang="en-IN" sz="1600" b="1" dirty="0">
              <a:latin typeface="Times New Roman" panose="02020603050405020304" pitchFamily="18" charset="0"/>
              <a:cs typeface="Times New Roman" panose="02020603050405020304" pitchFamily="18" charset="0"/>
            </a:endParaRPr>
          </a:p>
          <a:p>
            <a:pPr algn="ctr"/>
            <a:r>
              <a:rPr lang="en-IN" sz="1600" b="1" dirty="0" smtClean="0">
                <a:solidFill>
                  <a:srgbClr val="FF0000"/>
                </a:solidFill>
                <a:latin typeface="Times New Roman" panose="02020603050405020304" pitchFamily="18" charset="0"/>
                <a:cs typeface="Times New Roman" panose="02020603050405020304" pitchFamily="18" charset="0"/>
              </a:rPr>
              <a:t>HONEYPOT  </a:t>
            </a:r>
            <a:endParaRPr lang="en-IN" sz="1600" b="1" dirty="0">
              <a:latin typeface="Times New Roman" panose="02020603050405020304" pitchFamily="18" charset="0"/>
              <a:cs typeface="Times New Roman" panose="02020603050405020304" pitchFamily="18" charset="0"/>
            </a:endParaRPr>
          </a:p>
          <a:p>
            <a:pPr algn="ctr"/>
            <a:r>
              <a:rPr lang="en-IN" sz="1600" b="1" dirty="0">
                <a:latin typeface="Times New Roman" panose="02020603050405020304" pitchFamily="18" charset="0"/>
                <a:cs typeface="Times New Roman" panose="02020603050405020304" pitchFamily="18" charset="0"/>
              </a:rPr>
              <a:t>DATASET </a:t>
            </a:r>
          </a:p>
          <a:p>
            <a:pPr algn="ctr"/>
            <a:r>
              <a:rPr lang="en-IN" sz="1600" b="1" dirty="0" smtClean="0">
                <a:solidFill>
                  <a:schemeClr val="tx1"/>
                </a:solidFill>
                <a:latin typeface="Times New Roman" panose="02020603050405020304" pitchFamily="18" charset="0"/>
                <a:cs typeface="Times New Roman" panose="02020603050405020304" pitchFamily="18" charset="0"/>
              </a:rPr>
              <a:t>DATA </a:t>
            </a:r>
            <a:r>
              <a:rPr lang="en-IN" sz="1600" b="1" dirty="0">
                <a:solidFill>
                  <a:schemeClr val="tx1"/>
                </a:solidFill>
                <a:latin typeface="Times New Roman" panose="02020603050405020304" pitchFamily="18" charset="0"/>
                <a:cs typeface="Times New Roman" panose="02020603050405020304" pitchFamily="18" charset="0"/>
              </a:rPr>
              <a:t>CLEANING &amp; NORMALIZATION </a:t>
            </a:r>
          </a:p>
          <a:p>
            <a:pPr algn="ctr"/>
            <a:r>
              <a:rPr lang="en-US" sz="1600" b="1" dirty="0" smtClean="0">
                <a:solidFill>
                  <a:srgbClr val="FF0000"/>
                </a:solidFill>
                <a:latin typeface="Times New Roman" panose="02020603050405020304" pitchFamily="18" charset="0"/>
                <a:cs typeface="Times New Roman" panose="02020603050405020304" pitchFamily="18" charset="0"/>
              </a:rPr>
              <a:t> </a:t>
            </a:r>
            <a:endParaRPr lang="en-IN" sz="1600" b="1" dirty="0">
              <a:solidFill>
                <a:srgbClr val="FF0000"/>
              </a:solidFill>
              <a:latin typeface="Times New Roman" panose="02020603050405020304" pitchFamily="18" charset="0"/>
              <a:cs typeface="Times New Roman" panose="02020603050405020304" pitchFamily="18" charset="0"/>
            </a:endParaRPr>
          </a:p>
        </p:txBody>
      </p:sp>
      <p:sp>
        <p:nvSpPr>
          <p:cNvPr id="41" name="Flowchart: Process 40"/>
          <p:cNvSpPr/>
          <p:nvPr/>
        </p:nvSpPr>
        <p:spPr>
          <a:xfrm>
            <a:off x="8476047" y="2736125"/>
            <a:ext cx="2242909" cy="1661182"/>
          </a:xfrm>
          <a:prstGeom prst="flowChartProcess">
            <a:avLst/>
          </a:prstGeom>
          <a:ln w="38100">
            <a:prstDash val="solid"/>
          </a:ln>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solidFill>
                  <a:srgbClr val="FF0000"/>
                </a:solidFill>
                <a:latin typeface="Times New Roman" panose="02020603050405020304" pitchFamily="18" charset="0"/>
                <a:cs typeface="Times New Roman" panose="02020603050405020304" pitchFamily="18" charset="0"/>
              </a:rPr>
              <a:t>MODEL TRAINING</a:t>
            </a:r>
          </a:p>
          <a:p>
            <a:pPr algn="ctr"/>
            <a:r>
              <a:rPr lang="en-US" sz="1600" b="1" dirty="0" smtClean="0">
                <a:solidFill>
                  <a:schemeClr val="tx1"/>
                </a:solidFill>
                <a:latin typeface="Times New Roman" panose="02020603050405020304" pitchFamily="18" charset="0"/>
                <a:cs typeface="Times New Roman" panose="02020603050405020304" pitchFamily="18" charset="0"/>
              </a:rPr>
              <a:t>(</a:t>
            </a:r>
            <a:r>
              <a:rPr lang="en-IN" sz="1600" b="1" dirty="0" smtClean="0">
                <a:solidFill>
                  <a:schemeClr val="tx1"/>
                </a:solidFill>
                <a:latin typeface="Times New Roman" panose="02020603050405020304" pitchFamily="18" charset="0"/>
                <a:cs typeface="Times New Roman" panose="02020603050405020304" pitchFamily="18" charset="0"/>
              </a:rPr>
              <a:t>DEEP LEARNING </a:t>
            </a:r>
            <a:r>
              <a:rPr lang="en-IN" sz="1600" b="1" dirty="0">
                <a:solidFill>
                  <a:schemeClr val="tx1"/>
                </a:solidFill>
                <a:latin typeface="Times New Roman" panose="02020603050405020304" pitchFamily="18" charset="0"/>
                <a:cs typeface="Times New Roman" panose="02020603050405020304" pitchFamily="18" charset="0"/>
              </a:rPr>
              <a:t>ALGORITHM ON TRAIN DATA  </a:t>
            </a:r>
            <a:r>
              <a:rPr lang="en-US" sz="1600" b="1" dirty="0">
                <a:solidFill>
                  <a:schemeClr val="tx1"/>
                </a:solidFill>
                <a:latin typeface="Times New Roman" panose="02020603050405020304" pitchFamily="18" charset="0"/>
                <a:cs typeface="Times New Roman" panose="02020603050405020304" pitchFamily="18" charset="0"/>
              </a:rPr>
              <a:t>)</a:t>
            </a:r>
            <a:endParaRPr lang="en-IN" sz="1600" b="1" dirty="0">
              <a:solidFill>
                <a:schemeClr val="tx1"/>
              </a:solidFill>
              <a:latin typeface="Times New Roman" panose="02020603050405020304" pitchFamily="18" charset="0"/>
              <a:cs typeface="Times New Roman" panose="02020603050405020304" pitchFamily="18" charset="0"/>
            </a:endParaRPr>
          </a:p>
        </p:txBody>
      </p:sp>
      <p:sp>
        <p:nvSpPr>
          <p:cNvPr id="60" name="Oval 59"/>
          <p:cNvSpPr/>
          <p:nvPr/>
        </p:nvSpPr>
        <p:spPr>
          <a:xfrm>
            <a:off x="1003562" y="1161990"/>
            <a:ext cx="1983344" cy="901521"/>
          </a:xfrm>
          <a:prstGeom prst="ellipse">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Training dataset </a:t>
            </a:r>
            <a:endParaRPr lang="en-IN" b="1" dirty="0">
              <a:latin typeface="Times New Roman" panose="02020603050405020304" pitchFamily="18" charset="0"/>
              <a:cs typeface="Times New Roman" panose="02020603050405020304" pitchFamily="18" charset="0"/>
            </a:endParaRPr>
          </a:p>
        </p:txBody>
      </p:sp>
      <p:cxnSp>
        <p:nvCxnSpPr>
          <p:cNvPr id="72" name="Straight Arrow Connector 71"/>
          <p:cNvCxnSpPr>
            <a:stCxn id="35" idx="0"/>
            <a:endCxn id="60" idx="4"/>
          </p:cNvCxnSpPr>
          <p:nvPr/>
        </p:nvCxnSpPr>
        <p:spPr>
          <a:xfrm flipH="1" flipV="1">
            <a:off x="1995234" y="2063511"/>
            <a:ext cx="991673" cy="656239"/>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p:cNvCxnSpPr>
            <a:stCxn id="35" idx="3"/>
          </p:cNvCxnSpPr>
          <p:nvPr/>
        </p:nvCxnSpPr>
        <p:spPr>
          <a:xfrm>
            <a:off x="4108361" y="3550341"/>
            <a:ext cx="545880" cy="16375"/>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sp>
        <p:nvSpPr>
          <p:cNvPr id="7" name="Flowchart: Decision 6"/>
          <p:cNvSpPr/>
          <p:nvPr/>
        </p:nvSpPr>
        <p:spPr>
          <a:xfrm>
            <a:off x="4629121" y="2890624"/>
            <a:ext cx="3204694" cy="1421686"/>
          </a:xfrm>
          <a:prstGeom prst="flowChartDecision">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HONEYPOT  </a:t>
            </a:r>
            <a:r>
              <a:rPr lang="en-IN" sz="1600" b="1" dirty="0" smtClean="0">
                <a:solidFill>
                  <a:srgbClr val="FF0000"/>
                </a:solidFill>
                <a:latin typeface="Times New Roman" panose="02020603050405020304" pitchFamily="18" charset="0"/>
                <a:cs typeface="Times New Roman" panose="02020603050405020304" pitchFamily="18" charset="0"/>
              </a:rPr>
              <a:t>DETECTION </a:t>
            </a:r>
            <a:endParaRPr lang="en-IN" sz="1600" b="1" dirty="0">
              <a:solidFill>
                <a:srgbClr val="FF0000"/>
              </a:solidFill>
              <a:latin typeface="Times New Roman" panose="02020603050405020304" pitchFamily="18" charset="0"/>
              <a:cs typeface="Times New Roman" panose="02020603050405020304" pitchFamily="18" charset="0"/>
            </a:endParaRPr>
          </a:p>
        </p:txBody>
      </p:sp>
      <p:cxnSp>
        <p:nvCxnSpPr>
          <p:cNvPr id="42" name="Straight Arrow Connector 41"/>
          <p:cNvCxnSpPr/>
          <p:nvPr/>
        </p:nvCxnSpPr>
        <p:spPr>
          <a:xfrm flipV="1">
            <a:off x="7955288" y="3550341"/>
            <a:ext cx="545880" cy="1"/>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sp>
        <p:nvSpPr>
          <p:cNvPr id="47" name="Flowchart: Process 46"/>
          <p:cNvSpPr/>
          <p:nvPr/>
        </p:nvSpPr>
        <p:spPr>
          <a:xfrm>
            <a:off x="4670115" y="4763070"/>
            <a:ext cx="3163699" cy="1705970"/>
          </a:xfrm>
          <a:prstGeom prst="flowChartProcess">
            <a:avLst/>
          </a:prstGeom>
          <a:ln w="38100"/>
        </p:spPr>
        <p:style>
          <a:lnRef idx="2">
            <a:schemeClr val="dk1"/>
          </a:lnRef>
          <a:fillRef idx="1">
            <a:schemeClr val="lt1"/>
          </a:fillRef>
          <a:effectRef idx="0">
            <a:schemeClr val="dk1"/>
          </a:effectRef>
          <a:fontRef idx="minor">
            <a:schemeClr val="dk1"/>
          </a:fontRef>
        </p:style>
        <p:txBody>
          <a:bodyPr rtlCol="0" anchor="ctr"/>
          <a:lstStyle/>
          <a:p>
            <a:pPr marL="34290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PCA ALGORITHM </a:t>
            </a: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1D CNN </a:t>
            </a:r>
            <a:r>
              <a:rPr lang="en-IN" dirty="0">
                <a:latin typeface="Times New Roman" panose="02020603050405020304" pitchFamily="18" charset="0"/>
                <a:cs typeface="Times New Roman" panose="02020603050405020304" pitchFamily="18" charset="0"/>
              </a:rPr>
              <a:t>ALGORITHM </a:t>
            </a:r>
          </a:p>
        </p:txBody>
      </p:sp>
      <p:cxnSp>
        <p:nvCxnSpPr>
          <p:cNvPr id="48" name="Straight Arrow Connector 47"/>
          <p:cNvCxnSpPr>
            <a:stCxn id="35" idx="2"/>
            <a:endCxn id="47" idx="1"/>
          </p:cNvCxnSpPr>
          <p:nvPr/>
        </p:nvCxnSpPr>
        <p:spPr>
          <a:xfrm>
            <a:off x="2986907" y="4380932"/>
            <a:ext cx="1683208" cy="1235123"/>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cxnSp>
        <p:nvCxnSpPr>
          <p:cNvPr id="52" name="Straight Arrow Connector 51"/>
          <p:cNvCxnSpPr>
            <a:stCxn id="41" idx="2"/>
            <a:endCxn id="47" idx="3"/>
          </p:cNvCxnSpPr>
          <p:nvPr/>
        </p:nvCxnSpPr>
        <p:spPr>
          <a:xfrm flipH="1">
            <a:off x="7833814" y="4397307"/>
            <a:ext cx="1763688" cy="1218748"/>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sp>
        <p:nvSpPr>
          <p:cNvPr id="56" name="Oval 55"/>
          <p:cNvSpPr/>
          <p:nvPr/>
        </p:nvSpPr>
        <p:spPr>
          <a:xfrm>
            <a:off x="3216774" y="1112737"/>
            <a:ext cx="1983344" cy="901521"/>
          </a:xfrm>
          <a:prstGeom prst="ellipse">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Testing Dataset </a:t>
            </a:r>
            <a:endParaRPr lang="en-IN" b="1" dirty="0">
              <a:latin typeface="Times New Roman" panose="02020603050405020304" pitchFamily="18" charset="0"/>
              <a:cs typeface="Times New Roman" panose="02020603050405020304" pitchFamily="18" charset="0"/>
            </a:endParaRPr>
          </a:p>
        </p:txBody>
      </p:sp>
      <p:cxnSp>
        <p:nvCxnSpPr>
          <p:cNvPr id="57" name="Straight Arrow Connector 56"/>
          <p:cNvCxnSpPr>
            <a:stCxn id="35" idx="0"/>
            <a:endCxn id="56" idx="4"/>
          </p:cNvCxnSpPr>
          <p:nvPr/>
        </p:nvCxnSpPr>
        <p:spPr>
          <a:xfrm flipV="1">
            <a:off x="2986907" y="2014258"/>
            <a:ext cx="1221539" cy="705492"/>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sp>
        <p:nvSpPr>
          <p:cNvPr id="63" name="Oval 62"/>
          <p:cNvSpPr/>
          <p:nvPr/>
        </p:nvSpPr>
        <p:spPr>
          <a:xfrm>
            <a:off x="7618574" y="1178733"/>
            <a:ext cx="1983344" cy="901521"/>
          </a:xfrm>
          <a:prstGeom prst="ellipse">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HONEYPOT  </a:t>
            </a:r>
            <a:r>
              <a:rPr lang="en-IN" b="1" dirty="0" smtClean="0">
                <a:latin typeface="Times New Roman" panose="02020603050405020304" pitchFamily="18" charset="0"/>
                <a:cs typeface="Times New Roman" panose="02020603050405020304" pitchFamily="18" charset="0"/>
              </a:rPr>
              <a:t>Calculation </a:t>
            </a:r>
            <a:endParaRPr lang="en-IN" b="1" dirty="0">
              <a:latin typeface="Times New Roman" panose="02020603050405020304" pitchFamily="18" charset="0"/>
              <a:cs typeface="Times New Roman" panose="02020603050405020304" pitchFamily="18" charset="0"/>
            </a:endParaRPr>
          </a:p>
        </p:txBody>
      </p:sp>
      <p:cxnSp>
        <p:nvCxnSpPr>
          <p:cNvPr id="64" name="Straight Arrow Connector 63"/>
          <p:cNvCxnSpPr>
            <a:endCxn id="63" idx="4"/>
          </p:cNvCxnSpPr>
          <p:nvPr/>
        </p:nvCxnSpPr>
        <p:spPr>
          <a:xfrm flipH="1" flipV="1">
            <a:off x="8610246" y="2080254"/>
            <a:ext cx="991673" cy="656239"/>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sp>
        <p:nvSpPr>
          <p:cNvPr id="70" name="Oval 69"/>
          <p:cNvSpPr/>
          <p:nvPr/>
        </p:nvSpPr>
        <p:spPr>
          <a:xfrm>
            <a:off x="9831786" y="1129480"/>
            <a:ext cx="1983344" cy="901521"/>
          </a:xfrm>
          <a:prstGeom prst="ellipse">
            <a:avLst/>
          </a:prstGeom>
          <a:ln w="38100">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HONEYPOT   </a:t>
            </a:r>
            <a:r>
              <a:rPr lang="en-IN" b="1" dirty="0" smtClean="0">
                <a:latin typeface="Times New Roman" panose="02020603050405020304" pitchFamily="18" charset="0"/>
                <a:cs typeface="Times New Roman" panose="02020603050405020304" pitchFamily="18" charset="0"/>
              </a:rPr>
              <a:t>Analysis </a:t>
            </a:r>
            <a:endParaRPr lang="en-IN" b="1" dirty="0">
              <a:latin typeface="Times New Roman" panose="02020603050405020304" pitchFamily="18" charset="0"/>
              <a:cs typeface="Times New Roman" panose="02020603050405020304" pitchFamily="18" charset="0"/>
            </a:endParaRPr>
          </a:p>
        </p:txBody>
      </p:sp>
      <p:cxnSp>
        <p:nvCxnSpPr>
          <p:cNvPr id="71" name="Straight Arrow Connector 70"/>
          <p:cNvCxnSpPr>
            <a:endCxn id="70" idx="4"/>
          </p:cNvCxnSpPr>
          <p:nvPr/>
        </p:nvCxnSpPr>
        <p:spPr>
          <a:xfrm flipV="1">
            <a:off x="9601919" y="2031001"/>
            <a:ext cx="1221539" cy="705492"/>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941738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60109"/>
            <a:ext cx="10515600" cy="1325563"/>
          </a:xfrm>
        </p:spPr>
        <p:txBody>
          <a:bodyPr>
            <a:normAutofit/>
          </a:bodyPr>
          <a:lstStyle/>
          <a:p>
            <a:r>
              <a:rPr lang="en-IN" sz="3200" b="1" dirty="0">
                <a:latin typeface="Times New Roman" panose="02020603050405020304" pitchFamily="18" charset="0"/>
                <a:cs typeface="Times New Roman" panose="02020603050405020304" pitchFamily="18" charset="0"/>
              </a:rPr>
              <a:t>SEQUENCE DIAGRAM </a:t>
            </a:r>
            <a:endParaRPr lang="en-IN" sz="32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sz="1600">
              <a:latin typeface="Times New Roman" panose="02020603050405020304" pitchFamily="18" charset="0"/>
              <a:cs typeface="Times New Roman" panose="02020603050405020304" pitchFamily="18" charset="0"/>
            </a:endParaRPr>
          </a:p>
        </p:txBody>
      </p:sp>
      <p:sp>
        <p:nvSpPr>
          <p:cNvPr id="29" name="Flowchart: Process 28"/>
          <p:cNvSpPr/>
          <p:nvPr/>
        </p:nvSpPr>
        <p:spPr>
          <a:xfrm>
            <a:off x="828222" y="1585672"/>
            <a:ext cx="2242909" cy="761743"/>
          </a:xfrm>
          <a:prstGeom prst="flowChartProcess">
            <a:avLst/>
          </a:prstGeom>
          <a:ln w="38100">
            <a:prstDash val="solid"/>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b="1" dirty="0" smtClean="0">
              <a:solidFill>
                <a:srgbClr val="FF0000"/>
              </a:solidFill>
              <a:latin typeface="Times New Roman" panose="02020603050405020304" pitchFamily="18" charset="0"/>
              <a:cs typeface="Times New Roman" panose="02020603050405020304" pitchFamily="18" charset="0"/>
            </a:endParaRPr>
          </a:p>
          <a:p>
            <a:pPr algn="ctr"/>
            <a:r>
              <a:rPr lang="en-US" sz="1600" b="1" dirty="0" smtClean="0">
                <a:solidFill>
                  <a:srgbClr val="FF0000"/>
                </a:solidFill>
                <a:latin typeface="Times New Roman" panose="02020603050405020304" pitchFamily="18" charset="0"/>
                <a:cs typeface="Times New Roman" panose="02020603050405020304" pitchFamily="18" charset="0"/>
              </a:rPr>
              <a:t>HONEYPOT   </a:t>
            </a:r>
            <a:r>
              <a:rPr lang="en-US" sz="1600" b="1" dirty="0" smtClean="0">
                <a:solidFill>
                  <a:srgbClr val="FF0000"/>
                </a:solidFill>
                <a:latin typeface="Times New Roman" panose="02020603050405020304" pitchFamily="18" charset="0"/>
                <a:cs typeface="Times New Roman" panose="02020603050405020304" pitchFamily="18" charset="0"/>
              </a:rPr>
              <a:t>DATASET </a:t>
            </a:r>
          </a:p>
          <a:p>
            <a:pPr algn="ctr"/>
            <a:r>
              <a:rPr lang="en-US" sz="1600" b="1" dirty="0" smtClean="0">
                <a:solidFill>
                  <a:srgbClr val="FF0000"/>
                </a:solidFill>
                <a:latin typeface="Times New Roman" panose="02020603050405020304" pitchFamily="18" charset="0"/>
                <a:cs typeface="Times New Roman" panose="02020603050405020304" pitchFamily="18" charset="0"/>
              </a:rPr>
              <a:t> </a:t>
            </a:r>
            <a:endParaRPr lang="en-IN" sz="1600" b="1" dirty="0">
              <a:solidFill>
                <a:srgbClr val="FF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1819045" y="2364924"/>
            <a:ext cx="261261" cy="26161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31" name="Rectangle 30"/>
          <p:cNvSpPr/>
          <p:nvPr/>
        </p:nvSpPr>
        <p:spPr>
          <a:xfrm>
            <a:off x="1819043" y="5302003"/>
            <a:ext cx="261261" cy="38083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32" name="Rectangle 31"/>
          <p:cNvSpPr/>
          <p:nvPr/>
        </p:nvSpPr>
        <p:spPr>
          <a:xfrm>
            <a:off x="1819043" y="6003805"/>
            <a:ext cx="261261" cy="38083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33" name="Flowchart: Process 32"/>
          <p:cNvSpPr/>
          <p:nvPr/>
        </p:nvSpPr>
        <p:spPr>
          <a:xfrm>
            <a:off x="3627890" y="1585672"/>
            <a:ext cx="2242909" cy="761743"/>
          </a:xfrm>
          <a:prstGeom prst="flowChartProcess">
            <a:avLst/>
          </a:prstGeom>
          <a:ln w="38100">
            <a:prstDash val="solid"/>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b="1" dirty="0" smtClean="0">
              <a:solidFill>
                <a:srgbClr val="FF0000"/>
              </a:solidFill>
              <a:latin typeface="Times New Roman" panose="02020603050405020304" pitchFamily="18" charset="0"/>
              <a:cs typeface="Times New Roman" panose="02020603050405020304" pitchFamily="18" charset="0"/>
            </a:endParaRPr>
          </a:p>
          <a:p>
            <a:pPr algn="ctr"/>
            <a:endParaRPr lang="en-IN" sz="1600" b="1" dirty="0" smtClean="0">
              <a:solidFill>
                <a:srgbClr val="FF0000"/>
              </a:solidFill>
              <a:latin typeface="Times New Roman" panose="02020603050405020304" pitchFamily="18" charset="0"/>
              <a:cs typeface="Times New Roman" panose="02020603050405020304" pitchFamily="18" charset="0"/>
            </a:endParaRPr>
          </a:p>
          <a:p>
            <a:pPr algn="ctr"/>
            <a:r>
              <a:rPr lang="en-IN" sz="1600" b="1" dirty="0" smtClean="0">
                <a:solidFill>
                  <a:srgbClr val="FF0000"/>
                </a:solidFill>
                <a:latin typeface="Times New Roman" panose="02020603050405020304" pitchFamily="18" charset="0"/>
                <a:cs typeface="Times New Roman" panose="02020603050405020304" pitchFamily="18" charset="0"/>
              </a:rPr>
              <a:t>DATA </a:t>
            </a:r>
            <a:r>
              <a:rPr lang="en-IN" sz="1600" b="1" dirty="0">
                <a:solidFill>
                  <a:srgbClr val="FF0000"/>
                </a:solidFill>
                <a:latin typeface="Times New Roman" panose="02020603050405020304" pitchFamily="18" charset="0"/>
                <a:cs typeface="Times New Roman" panose="02020603050405020304" pitchFamily="18" charset="0"/>
              </a:rPr>
              <a:t>PARTITIONING</a:t>
            </a:r>
          </a:p>
          <a:p>
            <a:pPr algn="ctr"/>
            <a:r>
              <a:rPr lang="en-IN" sz="1600" b="1" dirty="0">
                <a:solidFill>
                  <a:schemeClr val="tx1"/>
                </a:solidFill>
                <a:latin typeface="Times New Roman" panose="02020603050405020304" pitchFamily="18" charset="0"/>
                <a:cs typeface="Times New Roman" panose="02020603050405020304" pitchFamily="18" charset="0"/>
              </a:rPr>
              <a:t>(TRAIN AND TEST)</a:t>
            </a:r>
          </a:p>
          <a:p>
            <a:pPr algn="ctr"/>
            <a:endParaRPr lang="en-IN" sz="1600" b="1" dirty="0">
              <a:solidFill>
                <a:srgbClr val="FF0000"/>
              </a:solidFill>
              <a:latin typeface="Times New Roman" panose="02020603050405020304" pitchFamily="18" charset="0"/>
              <a:cs typeface="Times New Roman" panose="02020603050405020304" pitchFamily="18" charset="0"/>
            </a:endParaRPr>
          </a:p>
          <a:p>
            <a:pPr algn="ctr"/>
            <a:r>
              <a:rPr lang="en-US" sz="1600" b="1" dirty="0" smtClean="0">
                <a:solidFill>
                  <a:srgbClr val="FF0000"/>
                </a:solidFill>
                <a:latin typeface="Times New Roman" panose="02020603050405020304" pitchFamily="18" charset="0"/>
                <a:cs typeface="Times New Roman" panose="02020603050405020304" pitchFamily="18" charset="0"/>
              </a:rPr>
              <a:t> </a:t>
            </a:r>
            <a:endParaRPr lang="en-IN" sz="1600" b="1" dirty="0">
              <a:solidFill>
                <a:srgbClr val="FF0000"/>
              </a:solidFill>
              <a:latin typeface="Times New Roman" panose="02020603050405020304" pitchFamily="18" charset="0"/>
              <a:cs typeface="Times New Roman" panose="02020603050405020304" pitchFamily="18" charset="0"/>
            </a:endParaRPr>
          </a:p>
        </p:txBody>
      </p:sp>
      <p:sp>
        <p:nvSpPr>
          <p:cNvPr id="34" name="Rectangle 33"/>
          <p:cNvSpPr/>
          <p:nvPr/>
        </p:nvSpPr>
        <p:spPr>
          <a:xfrm>
            <a:off x="4704320" y="2347415"/>
            <a:ext cx="247693" cy="163773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37" name="Rectangle 36"/>
          <p:cNvSpPr/>
          <p:nvPr/>
        </p:nvSpPr>
        <p:spPr>
          <a:xfrm>
            <a:off x="4704320" y="4553675"/>
            <a:ext cx="247693" cy="183096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cxnSp>
        <p:nvCxnSpPr>
          <p:cNvPr id="38" name="Straight Arrow Connector 37"/>
          <p:cNvCxnSpPr>
            <a:endCxn id="34" idx="1"/>
          </p:cNvCxnSpPr>
          <p:nvPr/>
        </p:nvCxnSpPr>
        <p:spPr>
          <a:xfrm>
            <a:off x="2159127" y="3152633"/>
            <a:ext cx="2545193" cy="13648"/>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sp>
        <p:nvSpPr>
          <p:cNvPr id="8" name="Rectangle 7"/>
          <p:cNvSpPr/>
          <p:nvPr/>
        </p:nvSpPr>
        <p:spPr>
          <a:xfrm>
            <a:off x="2089130" y="3270711"/>
            <a:ext cx="2497479" cy="369332"/>
          </a:xfrm>
          <a:prstGeom prst="rect">
            <a:avLst/>
          </a:prstGeom>
        </p:spPr>
        <p:txBody>
          <a:bodyPr wrap="none">
            <a:spAutoFit/>
          </a:bodyPr>
          <a:lstStyle/>
          <a:p>
            <a:pPr algn="ctr"/>
            <a:r>
              <a:rPr lang="en-IN" b="1" dirty="0" smtClean="0">
                <a:latin typeface="Times New Roman" panose="02020603050405020304" pitchFamily="18" charset="0"/>
                <a:cs typeface="Times New Roman" panose="02020603050405020304" pitchFamily="18" charset="0"/>
              </a:rPr>
              <a:t>Dataset Pre-processing </a:t>
            </a:r>
            <a:endParaRPr lang="en-IN" b="1" dirty="0">
              <a:latin typeface="Times New Roman" panose="02020603050405020304" pitchFamily="18" charset="0"/>
              <a:cs typeface="Times New Roman" panose="02020603050405020304" pitchFamily="18" charset="0"/>
            </a:endParaRPr>
          </a:p>
        </p:txBody>
      </p:sp>
      <p:cxnSp>
        <p:nvCxnSpPr>
          <p:cNvPr id="41" name="Straight Arrow Connector 40"/>
          <p:cNvCxnSpPr/>
          <p:nvPr/>
        </p:nvCxnSpPr>
        <p:spPr>
          <a:xfrm>
            <a:off x="2159125" y="5486419"/>
            <a:ext cx="2545193" cy="13648"/>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sp>
        <p:nvSpPr>
          <p:cNvPr id="9" name="Rectangle 8"/>
          <p:cNvSpPr/>
          <p:nvPr/>
        </p:nvSpPr>
        <p:spPr>
          <a:xfrm>
            <a:off x="2312428" y="4811556"/>
            <a:ext cx="2050882" cy="646331"/>
          </a:xfrm>
          <a:prstGeom prst="rect">
            <a:avLst/>
          </a:prstGeom>
        </p:spPr>
        <p:txBody>
          <a:bodyPr wrap="none">
            <a:spAutoFit/>
          </a:bodyPr>
          <a:lstStyle/>
          <a:p>
            <a:pPr algn="ctr"/>
            <a:r>
              <a:rPr lang="en-IN" b="1" dirty="0" smtClean="0">
                <a:latin typeface="Times New Roman" panose="02020603050405020304" pitchFamily="18" charset="0"/>
                <a:cs typeface="Times New Roman" panose="02020603050405020304" pitchFamily="18" charset="0"/>
              </a:rPr>
              <a:t>Missing Value and </a:t>
            </a:r>
          </a:p>
          <a:p>
            <a:pPr algn="ctr"/>
            <a:r>
              <a:rPr lang="en-IN" b="1" dirty="0" smtClean="0">
                <a:latin typeface="Times New Roman" panose="02020603050405020304" pitchFamily="18" charset="0"/>
                <a:cs typeface="Times New Roman" panose="02020603050405020304" pitchFamily="18" charset="0"/>
              </a:rPr>
              <a:t>Label Encoding </a:t>
            </a:r>
            <a:endParaRPr lang="en-IN" dirty="0"/>
          </a:p>
        </p:txBody>
      </p:sp>
      <p:sp>
        <p:nvSpPr>
          <p:cNvPr id="43" name="Flowchart: Process 42"/>
          <p:cNvSpPr/>
          <p:nvPr/>
        </p:nvSpPr>
        <p:spPr>
          <a:xfrm>
            <a:off x="6512781" y="1585671"/>
            <a:ext cx="2242909" cy="761743"/>
          </a:xfrm>
          <a:prstGeom prst="flowChartProcess">
            <a:avLst/>
          </a:prstGeom>
          <a:ln w="38100">
            <a:prstDash val="solid"/>
          </a:ln>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solidFill>
                  <a:srgbClr val="FF0000"/>
                </a:solidFill>
                <a:latin typeface="Times New Roman" panose="02020603050405020304" pitchFamily="18" charset="0"/>
                <a:cs typeface="Times New Roman" panose="02020603050405020304" pitchFamily="18" charset="0"/>
              </a:rPr>
              <a:t>MODEL </a:t>
            </a:r>
            <a:r>
              <a:rPr lang="en-IN" sz="1600" b="1" dirty="0">
                <a:solidFill>
                  <a:srgbClr val="FF0000"/>
                </a:solidFill>
                <a:latin typeface="Times New Roman" panose="02020603050405020304" pitchFamily="18" charset="0"/>
                <a:cs typeface="Times New Roman" panose="02020603050405020304" pitchFamily="18" charset="0"/>
              </a:rPr>
              <a:t>TRAINING</a:t>
            </a:r>
          </a:p>
          <a:p>
            <a:pPr algn="ctr"/>
            <a:r>
              <a:rPr lang="en-IN" sz="1600" b="1" dirty="0" smtClean="0">
                <a:solidFill>
                  <a:schemeClr val="tx1"/>
                </a:solidFill>
                <a:latin typeface="Times New Roman" panose="02020603050405020304" pitchFamily="18" charset="0"/>
                <a:cs typeface="Times New Roman" panose="02020603050405020304" pitchFamily="18" charset="0"/>
              </a:rPr>
              <a:t>ML  ALGORITHM</a:t>
            </a:r>
            <a:endParaRPr lang="en-IN" sz="1600" b="1" dirty="0">
              <a:solidFill>
                <a:srgbClr val="FF0000"/>
              </a:solidFill>
              <a:latin typeface="Times New Roman" panose="02020603050405020304" pitchFamily="18" charset="0"/>
              <a:cs typeface="Times New Roman" panose="02020603050405020304" pitchFamily="18" charset="0"/>
            </a:endParaRPr>
          </a:p>
        </p:txBody>
      </p:sp>
      <p:sp>
        <p:nvSpPr>
          <p:cNvPr id="45" name="Rectangle 44"/>
          <p:cNvSpPr/>
          <p:nvPr/>
        </p:nvSpPr>
        <p:spPr>
          <a:xfrm>
            <a:off x="7507231" y="2347414"/>
            <a:ext cx="297729" cy="403722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cxnSp>
        <p:nvCxnSpPr>
          <p:cNvPr id="47" name="Straight Arrow Connector 46"/>
          <p:cNvCxnSpPr/>
          <p:nvPr/>
        </p:nvCxnSpPr>
        <p:spPr>
          <a:xfrm>
            <a:off x="4952013" y="2861340"/>
            <a:ext cx="2545193" cy="13648"/>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cxnSp>
        <p:nvCxnSpPr>
          <p:cNvPr id="50" name="Straight Arrow Connector 49"/>
          <p:cNvCxnSpPr/>
          <p:nvPr/>
        </p:nvCxnSpPr>
        <p:spPr>
          <a:xfrm>
            <a:off x="4962038" y="3668250"/>
            <a:ext cx="2545193" cy="13648"/>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cxnSp>
        <p:nvCxnSpPr>
          <p:cNvPr id="54" name="Straight Arrow Connector 53"/>
          <p:cNvCxnSpPr/>
          <p:nvPr/>
        </p:nvCxnSpPr>
        <p:spPr>
          <a:xfrm>
            <a:off x="4989547" y="4697395"/>
            <a:ext cx="2545193" cy="13648"/>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cxnSp>
        <p:nvCxnSpPr>
          <p:cNvPr id="55" name="Straight Arrow Connector 54"/>
          <p:cNvCxnSpPr/>
          <p:nvPr/>
        </p:nvCxnSpPr>
        <p:spPr>
          <a:xfrm>
            <a:off x="4947839" y="5379127"/>
            <a:ext cx="2545193" cy="13648"/>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cxnSp>
        <p:nvCxnSpPr>
          <p:cNvPr id="58" name="Straight Arrow Connector 57"/>
          <p:cNvCxnSpPr/>
          <p:nvPr/>
        </p:nvCxnSpPr>
        <p:spPr>
          <a:xfrm>
            <a:off x="4975793" y="5996981"/>
            <a:ext cx="2545193" cy="13648"/>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sp>
        <p:nvSpPr>
          <p:cNvPr id="11" name="Rectangle 10"/>
          <p:cNvSpPr/>
          <p:nvPr/>
        </p:nvSpPr>
        <p:spPr>
          <a:xfrm>
            <a:off x="5906977" y="2974791"/>
            <a:ext cx="659155" cy="369332"/>
          </a:xfrm>
          <a:prstGeom prst="rect">
            <a:avLst/>
          </a:prstGeom>
        </p:spPr>
        <p:txBody>
          <a:bodyPr wrap="none">
            <a:spAutoFit/>
          </a:bodyPr>
          <a:lstStyle/>
          <a:p>
            <a:pPr algn="ctr"/>
            <a:r>
              <a:rPr lang="en-IN" b="1" dirty="0" smtClean="0">
                <a:latin typeface="Times New Roman" panose="02020603050405020304" pitchFamily="18" charset="0"/>
                <a:cs typeface="Times New Roman" panose="02020603050405020304" pitchFamily="18" charset="0"/>
              </a:rPr>
              <a:t>PCA</a:t>
            </a:r>
            <a:endParaRPr lang="en-IN" b="1" dirty="0">
              <a:latin typeface="Times New Roman" panose="02020603050405020304" pitchFamily="18" charset="0"/>
              <a:cs typeface="Times New Roman" panose="02020603050405020304" pitchFamily="18" charset="0"/>
            </a:endParaRPr>
          </a:p>
        </p:txBody>
      </p:sp>
      <p:sp>
        <p:nvSpPr>
          <p:cNvPr id="12" name="Rectangle 11"/>
          <p:cNvSpPr/>
          <p:nvPr/>
        </p:nvSpPr>
        <p:spPr>
          <a:xfrm>
            <a:off x="5118300" y="3777769"/>
            <a:ext cx="2362609" cy="369332"/>
          </a:xfrm>
          <a:prstGeom prst="rect">
            <a:avLst/>
          </a:prstGeom>
        </p:spPr>
        <p:txBody>
          <a:bodyPr wrap="square">
            <a:spAutoFit/>
          </a:bodyPr>
          <a:lstStyle/>
          <a:p>
            <a:pPr algn="ctr"/>
            <a:r>
              <a:rPr lang="en-IN" b="1" dirty="0" smtClean="0">
                <a:latin typeface="Times New Roman" panose="02020603050405020304" pitchFamily="18" charset="0"/>
                <a:cs typeface="Times New Roman" panose="02020603050405020304" pitchFamily="18" charset="0"/>
              </a:rPr>
              <a:t>ML </a:t>
            </a:r>
            <a:endParaRPr lang="en-IN" b="1" dirty="0">
              <a:latin typeface="Times New Roman" panose="02020603050405020304" pitchFamily="18" charset="0"/>
              <a:cs typeface="Times New Roman" panose="02020603050405020304" pitchFamily="18" charset="0"/>
            </a:endParaRPr>
          </a:p>
        </p:txBody>
      </p:sp>
      <p:sp>
        <p:nvSpPr>
          <p:cNvPr id="60" name="Rectangle 59"/>
          <p:cNvSpPr/>
          <p:nvPr/>
        </p:nvSpPr>
        <p:spPr>
          <a:xfrm>
            <a:off x="5949270" y="4811556"/>
            <a:ext cx="524504" cy="369332"/>
          </a:xfrm>
          <a:prstGeom prst="rect">
            <a:avLst/>
          </a:prstGeom>
        </p:spPr>
        <p:txBody>
          <a:bodyPr wrap="none">
            <a:spAutoFit/>
          </a:bodyPr>
          <a:lstStyle/>
          <a:p>
            <a:pPr algn="ctr"/>
            <a:r>
              <a:rPr lang="en-IN" b="1" dirty="0" smtClean="0">
                <a:latin typeface="Times New Roman" panose="02020603050405020304" pitchFamily="18" charset="0"/>
                <a:cs typeface="Times New Roman" panose="02020603050405020304" pitchFamily="18" charset="0"/>
              </a:rPr>
              <a:t>1D </a:t>
            </a:r>
            <a:endParaRPr lang="en-IN" b="1" dirty="0">
              <a:latin typeface="Times New Roman" panose="02020603050405020304" pitchFamily="18" charset="0"/>
              <a:cs typeface="Times New Roman" panose="02020603050405020304" pitchFamily="18" charset="0"/>
            </a:endParaRPr>
          </a:p>
        </p:txBody>
      </p:sp>
      <p:sp>
        <p:nvSpPr>
          <p:cNvPr id="62" name="Rectangle 61"/>
          <p:cNvSpPr/>
          <p:nvPr/>
        </p:nvSpPr>
        <p:spPr>
          <a:xfrm>
            <a:off x="5868054" y="5457089"/>
            <a:ext cx="742511" cy="369332"/>
          </a:xfrm>
          <a:prstGeom prst="rect">
            <a:avLst/>
          </a:prstGeom>
        </p:spPr>
        <p:txBody>
          <a:bodyPr wrap="none">
            <a:spAutoFit/>
          </a:bodyPr>
          <a:lstStyle/>
          <a:p>
            <a:pPr algn="ctr"/>
            <a:r>
              <a:rPr lang="en-IN" b="1" dirty="0" smtClean="0">
                <a:latin typeface="Times New Roman" panose="02020603050405020304" pitchFamily="18" charset="0"/>
                <a:cs typeface="Times New Roman" panose="02020603050405020304" pitchFamily="18" charset="0"/>
              </a:rPr>
              <a:t>CNN </a:t>
            </a:r>
            <a:endParaRPr lang="en-IN" b="1" dirty="0">
              <a:latin typeface="Times New Roman" panose="02020603050405020304" pitchFamily="18" charset="0"/>
              <a:cs typeface="Times New Roman" panose="02020603050405020304" pitchFamily="18" charset="0"/>
            </a:endParaRPr>
          </a:p>
        </p:txBody>
      </p:sp>
      <p:sp>
        <p:nvSpPr>
          <p:cNvPr id="64" name="Rectangle 63"/>
          <p:cNvSpPr/>
          <p:nvPr/>
        </p:nvSpPr>
        <p:spPr>
          <a:xfrm>
            <a:off x="5806137" y="6087754"/>
            <a:ext cx="870751" cy="369332"/>
          </a:xfrm>
          <a:prstGeom prst="rect">
            <a:avLst/>
          </a:prstGeom>
        </p:spPr>
        <p:txBody>
          <a:bodyPr wrap="none">
            <a:spAutoFit/>
          </a:bodyPr>
          <a:lstStyle/>
          <a:p>
            <a:pPr algn="ctr"/>
            <a:r>
              <a:rPr lang="en-IN" b="1" dirty="0" smtClean="0">
                <a:latin typeface="Times New Roman" panose="02020603050405020304" pitchFamily="18" charset="0"/>
                <a:cs typeface="Times New Roman" panose="02020603050405020304" pitchFamily="18" charset="0"/>
              </a:rPr>
              <a:t>Model </a:t>
            </a:r>
            <a:endParaRPr lang="en-IN" b="1" dirty="0">
              <a:latin typeface="Times New Roman" panose="02020603050405020304" pitchFamily="18" charset="0"/>
              <a:cs typeface="Times New Roman" panose="02020603050405020304" pitchFamily="18" charset="0"/>
            </a:endParaRPr>
          </a:p>
        </p:txBody>
      </p:sp>
      <p:sp>
        <p:nvSpPr>
          <p:cNvPr id="66" name="Flowchart: Process 65"/>
          <p:cNvSpPr/>
          <p:nvPr/>
        </p:nvSpPr>
        <p:spPr>
          <a:xfrm>
            <a:off x="9336666" y="1585671"/>
            <a:ext cx="2242909" cy="761743"/>
          </a:xfrm>
          <a:prstGeom prst="flowChartProcess">
            <a:avLst/>
          </a:prstGeom>
          <a:ln w="38100">
            <a:prstDash val="solid"/>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b="1" dirty="0" smtClean="0">
              <a:solidFill>
                <a:srgbClr val="FF0000"/>
              </a:solidFill>
              <a:latin typeface="Times New Roman" panose="02020603050405020304" pitchFamily="18" charset="0"/>
              <a:cs typeface="Times New Roman" panose="02020603050405020304" pitchFamily="18" charset="0"/>
            </a:endParaRPr>
          </a:p>
          <a:p>
            <a:pPr algn="ctr"/>
            <a:r>
              <a:rPr lang="en-US" sz="1600" b="1" dirty="0" smtClean="0">
                <a:solidFill>
                  <a:srgbClr val="FF0000"/>
                </a:solidFill>
                <a:latin typeface="Times New Roman" panose="02020603050405020304" pitchFamily="18" charset="0"/>
                <a:cs typeface="Times New Roman" panose="02020603050405020304" pitchFamily="18" charset="0"/>
              </a:rPr>
              <a:t>HONEYPOT  </a:t>
            </a:r>
            <a:r>
              <a:rPr lang="en-US" sz="1600" b="1" dirty="0" smtClean="0">
                <a:solidFill>
                  <a:srgbClr val="FF0000"/>
                </a:solidFill>
                <a:latin typeface="Times New Roman" panose="02020603050405020304" pitchFamily="18" charset="0"/>
                <a:cs typeface="Times New Roman" panose="02020603050405020304" pitchFamily="18" charset="0"/>
              </a:rPr>
              <a:t>DETECTION </a:t>
            </a:r>
          </a:p>
          <a:p>
            <a:pPr algn="ctr"/>
            <a:r>
              <a:rPr lang="en-US" sz="1600" b="1" dirty="0" smtClean="0">
                <a:solidFill>
                  <a:srgbClr val="FF0000"/>
                </a:solidFill>
                <a:latin typeface="Times New Roman" panose="02020603050405020304" pitchFamily="18" charset="0"/>
                <a:cs typeface="Times New Roman" panose="02020603050405020304" pitchFamily="18" charset="0"/>
              </a:rPr>
              <a:t> </a:t>
            </a:r>
            <a:endParaRPr lang="en-IN" sz="1600" b="1" dirty="0">
              <a:solidFill>
                <a:srgbClr val="FF0000"/>
              </a:solidFill>
              <a:latin typeface="Times New Roman" panose="02020603050405020304" pitchFamily="18" charset="0"/>
              <a:cs typeface="Times New Roman" panose="02020603050405020304" pitchFamily="18" charset="0"/>
            </a:endParaRPr>
          </a:p>
        </p:txBody>
      </p:sp>
      <p:sp>
        <p:nvSpPr>
          <p:cNvPr id="68" name="Rectangle 67"/>
          <p:cNvSpPr/>
          <p:nvPr/>
        </p:nvSpPr>
        <p:spPr>
          <a:xfrm>
            <a:off x="10327489" y="2364923"/>
            <a:ext cx="261261" cy="26161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cxnSp>
        <p:nvCxnSpPr>
          <p:cNvPr id="72" name="Straight Arrow Connector 71"/>
          <p:cNvCxnSpPr/>
          <p:nvPr/>
        </p:nvCxnSpPr>
        <p:spPr>
          <a:xfrm>
            <a:off x="7791205" y="3351255"/>
            <a:ext cx="2545193" cy="13648"/>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8186036" y="2897949"/>
            <a:ext cx="1779205" cy="369332"/>
          </a:xfrm>
          <a:prstGeom prst="rect">
            <a:avLst/>
          </a:prstGeom>
        </p:spPr>
        <p:txBody>
          <a:bodyPr wrap="none">
            <a:spAutoFit/>
          </a:bodyPr>
          <a:lstStyle/>
          <a:p>
            <a:pPr algn="ctr"/>
            <a:r>
              <a:rPr lang="en-IN" b="1" dirty="0" smtClean="0">
                <a:latin typeface="Times New Roman" panose="02020603050405020304" pitchFamily="18" charset="0"/>
                <a:cs typeface="Times New Roman" panose="02020603050405020304" pitchFamily="18" charset="0"/>
              </a:rPr>
              <a:t>Model Training </a:t>
            </a:r>
            <a:endParaRPr lang="en-IN" b="1" dirty="0">
              <a:latin typeface="Times New Roman" panose="02020603050405020304" pitchFamily="18" charset="0"/>
              <a:cs typeface="Times New Roman" panose="02020603050405020304" pitchFamily="18" charset="0"/>
            </a:endParaRPr>
          </a:p>
        </p:txBody>
      </p:sp>
      <p:sp>
        <p:nvSpPr>
          <p:cNvPr id="73" name="Rectangle 72"/>
          <p:cNvSpPr/>
          <p:nvPr/>
        </p:nvSpPr>
        <p:spPr>
          <a:xfrm>
            <a:off x="8358548" y="3553538"/>
            <a:ext cx="1321837" cy="369332"/>
          </a:xfrm>
          <a:prstGeom prst="rect">
            <a:avLst/>
          </a:prstGeom>
        </p:spPr>
        <p:txBody>
          <a:bodyPr wrap="none">
            <a:spAutoFit/>
          </a:bodyPr>
          <a:lstStyle/>
          <a:p>
            <a:pPr algn="ctr"/>
            <a:r>
              <a:rPr lang="en-IN" b="1" dirty="0" smtClean="0">
                <a:latin typeface="Times New Roman" panose="02020603050405020304" pitchFamily="18" charset="0"/>
                <a:cs typeface="Times New Roman" panose="02020603050405020304" pitchFamily="18" charset="0"/>
              </a:rPr>
              <a:t>Prediction  </a:t>
            </a:r>
            <a:endParaRPr lang="en-IN" b="1" dirty="0">
              <a:latin typeface="Times New Roman" panose="02020603050405020304" pitchFamily="18" charset="0"/>
              <a:cs typeface="Times New Roman" panose="02020603050405020304" pitchFamily="18" charset="0"/>
            </a:endParaRPr>
          </a:p>
        </p:txBody>
      </p:sp>
      <p:sp>
        <p:nvSpPr>
          <p:cNvPr id="74" name="Rectangle 73"/>
          <p:cNvSpPr/>
          <p:nvPr/>
        </p:nvSpPr>
        <p:spPr>
          <a:xfrm>
            <a:off x="10322644" y="5199901"/>
            <a:ext cx="261261" cy="38083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75" name="Rectangle 74"/>
          <p:cNvSpPr/>
          <p:nvPr/>
        </p:nvSpPr>
        <p:spPr>
          <a:xfrm>
            <a:off x="10322644" y="5901703"/>
            <a:ext cx="261261" cy="38083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cxnSp>
        <p:nvCxnSpPr>
          <p:cNvPr id="76" name="Straight Arrow Connector 75"/>
          <p:cNvCxnSpPr>
            <a:stCxn id="74" idx="1"/>
          </p:cNvCxnSpPr>
          <p:nvPr/>
        </p:nvCxnSpPr>
        <p:spPr>
          <a:xfrm flipH="1" flipV="1">
            <a:off x="7814985" y="5379127"/>
            <a:ext cx="2507659" cy="11190"/>
          </a:xfrm>
          <a:prstGeom prst="straightConnector1">
            <a:avLst/>
          </a:prstGeom>
          <a:ln w="38100">
            <a:prstDash val="dash"/>
            <a:tailEnd type="triangle"/>
          </a:ln>
        </p:spPr>
        <p:style>
          <a:lnRef idx="3">
            <a:schemeClr val="dk1"/>
          </a:lnRef>
          <a:fillRef idx="0">
            <a:schemeClr val="dk1"/>
          </a:fillRef>
          <a:effectRef idx="2">
            <a:schemeClr val="dk1"/>
          </a:effectRef>
          <a:fontRef idx="minor">
            <a:schemeClr val="tx1"/>
          </a:fontRef>
        </p:style>
      </p:cxnSp>
      <p:sp>
        <p:nvSpPr>
          <p:cNvPr id="77" name="Rectangle 76"/>
          <p:cNvSpPr/>
          <p:nvPr/>
        </p:nvSpPr>
        <p:spPr>
          <a:xfrm>
            <a:off x="8556105" y="4931527"/>
            <a:ext cx="1176604" cy="369332"/>
          </a:xfrm>
          <a:prstGeom prst="rect">
            <a:avLst/>
          </a:prstGeom>
        </p:spPr>
        <p:txBody>
          <a:bodyPr wrap="none">
            <a:spAutoFit/>
          </a:bodyPr>
          <a:lstStyle/>
          <a:p>
            <a:pPr algn="ctr"/>
            <a:r>
              <a:rPr lang="en-IN" b="1" dirty="0" smtClean="0">
                <a:latin typeface="Times New Roman" panose="02020603050405020304" pitchFamily="18" charset="0"/>
                <a:cs typeface="Times New Roman" panose="02020603050405020304" pitchFamily="18" charset="0"/>
              </a:rPr>
              <a:t>Test Data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74359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60109"/>
            <a:ext cx="10515600" cy="1325563"/>
          </a:xfrm>
        </p:spPr>
        <p:txBody>
          <a:bodyPr>
            <a:normAutofit/>
          </a:bodyPr>
          <a:lstStyle/>
          <a:p>
            <a:r>
              <a:rPr lang="en-IN" sz="3600" b="1" dirty="0" smtClean="0">
                <a:latin typeface="Times New Roman" panose="02020603050405020304" pitchFamily="18" charset="0"/>
                <a:cs typeface="Times New Roman" panose="02020603050405020304" pitchFamily="18" charset="0"/>
              </a:rPr>
              <a:t>ACTIVITY DIAGRAM </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sz="1400"/>
          </a:p>
        </p:txBody>
      </p:sp>
      <p:sp>
        <p:nvSpPr>
          <p:cNvPr id="36" name="Rounded Rectangle 35"/>
          <p:cNvSpPr/>
          <p:nvPr/>
        </p:nvSpPr>
        <p:spPr>
          <a:xfrm>
            <a:off x="4646239" y="2205876"/>
            <a:ext cx="2117259" cy="682676"/>
          </a:xfrm>
          <a:prstGeom prst="round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b="1" dirty="0">
              <a:solidFill>
                <a:srgbClr val="FF0000"/>
              </a:solidFill>
              <a:latin typeface="Times New Roman" panose="02020603050405020304" pitchFamily="18" charset="0"/>
              <a:cs typeface="Times New Roman" panose="02020603050405020304" pitchFamily="18" charset="0"/>
            </a:endParaRPr>
          </a:p>
          <a:p>
            <a:pPr algn="ctr"/>
            <a:r>
              <a:rPr lang="en-US" sz="1400" b="1" dirty="0" smtClean="0">
                <a:solidFill>
                  <a:srgbClr val="FF0000"/>
                </a:solidFill>
                <a:latin typeface="Times New Roman" panose="02020603050405020304" pitchFamily="18" charset="0"/>
                <a:cs typeface="Times New Roman" panose="02020603050405020304" pitchFamily="18" charset="0"/>
              </a:rPr>
              <a:t>HONEYPOT   </a:t>
            </a:r>
            <a:r>
              <a:rPr lang="en-US" sz="1400" b="1" dirty="0" smtClean="0">
                <a:solidFill>
                  <a:schemeClr val="tx1"/>
                </a:solidFill>
                <a:latin typeface="Times New Roman" panose="02020603050405020304" pitchFamily="18" charset="0"/>
                <a:cs typeface="Times New Roman" panose="02020603050405020304" pitchFamily="18" charset="0"/>
              </a:rPr>
              <a:t>DATASET</a:t>
            </a:r>
            <a:r>
              <a:rPr lang="en-US" sz="1400" b="1" dirty="0" smtClean="0">
                <a:solidFill>
                  <a:srgbClr val="FF0000"/>
                </a:solidFill>
                <a:latin typeface="Times New Roman" panose="02020603050405020304" pitchFamily="18" charset="0"/>
                <a:cs typeface="Times New Roman" panose="02020603050405020304" pitchFamily="18" charset="0"/>
              </a:rPr>
              <a:t> </a:t>
            </a:r>
            <a:endParaRPr lang="en-US" sz="1400" b="1" dirty="0">
              <a:solidFill>
                <a:srgbClr val="FF0000"/>
              </a:solidFill>
              <a:latin typeface="Times New Roman" panose="02020603050405020304" pitchFamily="18" charset="0"/>
              <a:cs typeface="Times New Roman" panose="02020603050405020304" pitchFamily="18" charset="0"/>
            </a:endParaRPr>
          </a:p>
          <a:p>
            <a:pPr algn="ctr"/>
            <a:endParaRPr lang="en-IN" sz="1400" b="1" dirty="0">
              <a:solidFill>
                <a:srgbClr val="FF0000"/>
              </a:solidFill>
              <a:latin typeface="Times New Roman" panose="02020603050405020304" pitchFamily="18" charset="0"/>
              <a:cs typeface="Times New Roman" panose="02020603050405020304" pitchFamily="18" charset="0"/>
            </a:endParaRPr>
          </a:p>
        </p:txBody>
      </p:sp>
      <p:sp>
        <p:nvSpPr>
          <p:cNvPr id="6" name="Oval 5"/>
          <p:cNvSpPr/>
          <p:nvPr/>
        </p:nvSpPr>
        <p:spPr>
          <a:xfrm>
            <a:off x="5308979" y="1282890"/>
            <a:ext cx="791784" cy="62779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28" name="Straight Arrow Connector 27"/>
          <p:cNvCxnSpPr/>
          <p:nvPr/>
        </p:nvCxnSpPr>
        <p:spPr>
          <a:xfrm>
            <a:off x="5704869" y="1910687"/>
            <a:ext cx="1" cy="28956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29" name="Rounded Rectangle 28"/>
          <p:cNvSpPr/>
          <p:nvPr/>
        </p:nvSpPr>
        <p:spPr>
          <a:xfrm>
            <a:off x="1929536" y="3424860"/>
            <a:ext cx="2117259" cy="682676"/>
          </a:xfrm>
          <a:prstGeom prst="round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b="1" dirty="0">
              <a:solidFill>
                <a:srgbClr val="FF0000"/>
              </a:solidFill>
              <a:latin typeface="Times New Roman" panose="02020603050405020304" pitchFamily="18" charset="0"/>
              <a:cs typeface="Times New Roman" panose="02020603050405020304" pitchFamily="18" charset="0"/>
            </a:endParaRPr>
          </a:p>
          <a:p>
            <a:pPr algn="ctr"/>
            <a:r>
              <a:rPr lang="en-US" sz="1400" b="1" dirty="0" smtClean="0">
                <a:solidFill>
                  <a:srgbClr val="FF0000"/>
                </a:solidFill>
                <a:latin typeface="Times New Roman" panose="02020603050405020304" pitchFamily="18" charset="0"/>
                <a:cs typeface="Times New Roman" panose="02020603050405020304" pitchFamily="18" charset="0"/>
              </a:rPr>
              <a:t>DATA </a:t>
            </a:r>
            <a:r>
              <a:rPr lang="en-US" sz="1400" b="1" dirty="0" smtClean="0">
                <a:solidFill>
                  <a:schemeClr val="tx1"/>
                </a:solidFill>
                <a:latin typeface="Times New Roman" panose="02020603050405020304" pitchFamily="18" charset="0"/>
                <a:cs typeface="Times New Roman" panose="02020603050405020304" pitchFamily="18" charset="0"/>
              </a:rPr>
              <a:t>PREPROCESSING </a:t>
            </a:r>
            <a:endParaRPr lang="en-US" sz="1400" b="1" dirty="0">
              <a:solidFill>
                <a:schemeClr val="tx1"/>
              </a:solidFill>
              <a:latin typeface="Times New Roman" panose="02020603050405020304" pitchFamily="18" charset="0"/>
              <a:cs typeface="Times New Roman" panose="02020603050405020304" pitchFamily="18" charset="0"/>
            </a:endParaRPr>
          </a:p>
          <a:p>
            <a:pPr algn="ctr"/>
            <a:endParaRPr lang="en-IN" sz="1400" b="1" dirty="0">
              <a:solidFill>
                <a:srgbClr val="FF0000"/>
              </a:solidFill>
              <a:latin typeface="Times New Roman" panose="02020603050405020304" pitchFamily="18" charset="0"/>
              <a:cs typeface="Times New Roman" panose="02020603050405020304" pitchFamily="18" charset="0"/>
            </a:endParaRPr>
          </a:p>
        </p:txBody>
      </p:sp>
      <p:sp>
        <p:nvSpPr>
          <p:cNvPr id="30" name="Rounded Rectangle 29"/>
          <p:cNvSpPr/>
          <p:nvPr/>
        </p:nvSpPr>
        <p:spPr>
          <a:xfrm>
            <a:off x="7571407" y="3436144"/>
            <a:ext cx="2117259" cy="682676"/>
          </a:xfrm>
          <a:prstGeom prst="round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b="1" dirty="0">
              <a:solidFill>
                <a:srgbClr val="FF0000"/>
              </a:solidFill>
              <a:latin typeface="Times New Roman" panose="02020603050405020304" pitchFamily="18" charset="0"/>
              <a:cs typeface="Times New Roman" panose="02020603050405020304" pitchFamily="18" charset="0"/>
            </a:endParaRPr>
          </a:p>
          <a:p>
            <a:pPr algn="ctr"/>
            <a:endParaRPr lang="en-US" sz="1400" b="1" dirty="0">
              <a:solidFill>
                <a:srgbClr val="FF0000"/>
              </a:solidFill>
              <a:latin typeface="Times New Roman" panose="02020603050405020304" pitchFamily="18" charset="0"/>
              <a:cs typeface="Times New Roman" panose="02020603050405020304" pitchFamily="18" charset="0"/>
            </a:endParaRPr>
          </a:p>
          <a:p>
            <a:pPr algn="ctr"/>
            <a:endParaRPr lang="en-IN" sz="1400" b="1" dirty="0">
              <a:solidFill>
                <a:srgbClr val="FF0000"/>
              </a:solidFill>
              <a:latin typeface="Times New Roman" panose="02020603050405020304" pitchFamily="18" charset="0"/>
              <a:cs typeface="Times New Roman" panose="02020603050405020304" pitchFamily="18" charset="0"/>
            </a:endParaRPr>
          </a:p>
          <a:p>
            <a:pPr algn="ctr"/>
            <a:r>
              <a:rPr lang="en-IN" sz="1400" b="1" dirty="0">
                <a:solidFill>
                  <a:srgbClr val="FF0000"/>
                </a:solidFill>
                <a:latin typeface="Times New Roman" panose="02020603050405020304" pitchFamily="18" charset="0"/>
                <a:cs typeface="Times New Roman" panose="02020603050405020304" pitchFamily="18" charset="0"/>
              </a:rPr>
              <a:t>DATA PARTITIONING</a:t>
            </a:r>
          </a:p>
          <a:p>
            <a:pPr algn="ctr"/>
            <a:r>
              <a:rPr lang="en-IN" sz="1400" b="1" dirty="0">
                <a:solidFill>
                  <a:schemeClr val="tx1"/>
                </a:solidFill>
                <a:latin typeface="Times New Roman" panose="02020603050405020304" pitchFamily="18" charset="0"/>
                <a:cs typeface="Times New Roman" panose="02020603050405020304" pitchFamily="18" charset="0"/>
              </a:rPr>
              <a:t>(TRAIN AND TEST)</a:t>
            </a:r>
          </a:p>
          <a:p>
            <a:pPr algn="ctr"/>
            <a:endParaRPr lang="en-IN" sz="1400" b="1" dirty="0">
              <a:solidFill>
                <a:srgbClr val="FF0000"/>
              </a:solidFill>
              <a:latin typeface="Times New Roman" panose="02020603050405020304" pitchFamily="18" charset="0"/>
              <a:cs typeface="Times New Roman" panose="02020603050405020304" pitchFamily="18" charset="0"/>
            </a:endParaRPr>
          </a:p>
          <a:p>
            <a:pPr algn="ctr"/>
            <a:r>
              <a:rPr lang="en-US" sz="1400" b="1" dirty="0">
                <a:solidFill>
                  <a:srgbClr val="FF0000"/>
                </a:solidFill>
                <a:latin typeface="Times New Roman" panose="02020603050405020304" pitchFamily="18" charset="0"/>
                <a:cs typeface="Times New Roman" panose="02020603050405020304" pitchFamily="18" charset="0"/>
              </a:rPr>
              <a:t> </a:t>
            </a:r>
            <a:endParaRPr lang="en-IN" sz="1400" b="1" dirty="0">
              <a:solidFill>
                <a:srgbClr val="FF0000"/>
              </a:solidFill>
              <a:latin typeface="Times New Roman" panose="02020603050405020304" pitchFamily="18" charset="0"/>
              <a:cs typeface="Times New Roman" panose="02020603050405020304" pitchFamily="18" charset="0"/>
            </a:endParaRPr>
          </a:p>
          <a:p>
            <a:pPr algn="ctr"/>
            <a:endParaRPr lang="en-IN" sz="1400" b="1" dirty="0">
              <a:solidFill>
                <a:srgbClr val="FF0000"/>
              </a:solidFill>
              <a:latin typeface="Times New Roman" panose="02020603050405020304" pitchFamily="18" charset="0"/>
              <a:cs typeface="Times New Roman" panose="02020603050405020304" pitchFamily="18" charset="0"/>
            </a:endParaRPr>
          </a:p>
        </p:txBody>
      </p:sp>
      <p:cxnSp>
        <p:nvCxnSpPr>
          <p:cNvPr id="9" name="Elbow Connector 8"/>
          <p:cNvCxnSpPr>
            <a:stCxn id="36" idx="2"/>
            <a:endCxn id="29" idx="0"/>
          </p:cNvCxnSpPr>
          <p:nvPr/>
        </p:nvCxnSpPr>
        <p:spPr>
          <a:xfrm rot="5400000">
            <a:off x="4078364" y="1798355"/>
            <a:ext cx="536308" cy="2716703"/>
          </a:xfrm>
          <a:prstGeom prst="bentConnector3">
            <a:avLst>
              <a:gd name="adj1" fmla="val 50000"/>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37" name="Elbow Connector 36"/>
          <p:cNvCxnSpPr>
            <a:stCxn id="36" idx="2"/>
            <a:endCxn id="30" idx="0"/>
          </p:cNvCxnSpPr>
          <p:nvPr/>
        </p:nvCxnSpPr>
        <p:spPr>
          <a:xfrm rot="16200000" flipH="1">
            <a:off x="6893657" y="1699764"/>
            <a:ext cx="547592" cy="2925168"/>
          </a:xfrm>
          <a:prstGeom prst="bentConnector3">
            <a:avLst>
              <a:gd name="adj1" fmla="val 50000"/>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43" name="Rounded Rectangle 42"/>
          <p:cNvSpPr/>
          <p:nvPr/>
        </p:nvSpPr>
        <p:spPr>
          <a:xfrm>
            <a:off x="7571407" y="4397685"/>
            <a:ext cx="2117259" cy="682676"/>
          </a:xfrm>
          <a:prstGeom prst="round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1400" b="1" dirty="0">
                <a:solidFill>
                  <a:srgbClr val="FF0000"/>
                </a:solidFill>
                <a:latin typeface="Times New Roman" panose="02020603050405020304" pitchFamily="18" charset="0"/>
                <a:cs typeface="Times New Roman" panose="02020603050405020304" pitchFamily="18" charset="0"/>
              </a:rPr>
              <a:t>MODEL TRAINING</a:t>
            </a:r>
          </a:p>
          <a:p>
            <a:pPr algn="ctr"/>
            <a:r>
              <a:rPr lang="en-IN" sz="1400" b="1" dirty="0" smtClean="0">
                <a:solidFill>
                  <a:schemeClr val="tx1"/>
                </a:solidFill>
                <a:latin typeface="Times New Roman" panose="02020603050405020304" pitchFamily="18" charset="0"/>
                <a:cs typeface="Times New Roman" panose="02020603050405020304" pitchFamily="18" charset="0"/>
              </a:rPr>
              <a:t>DL ALGORITHM</a:t>
            </a:r>
            <a:endParaRPr lang="en-IN" sz="1400" b="1" dirty="0">
              <a:solidFill>
                <a:srgbClr val="FF0000"/>
              </a:solidFill>
              <a:latin typeface="Times New Roman" panose="02020603050405020304" pitchFamily="18" charset="0"/>
              <a:cs typeface="Times New Roman" panose="02020603050405020304" pitchFamily="18" charset="0"/>
            </a:endParaRPr>
          </a:p>
        </p:txBody>
      </p:sp>
      <p:cxnSp>
        <p:nvCxnSpPr>
          <p:cNvPr id="44" name="Straight Arrow Connector 43"/>
          <p:cNvCxnSpPr/>
          <p:nvPr/>
        </p:nvCxnSpPr>
        <p:spPr>
          <a:xfrm>
            <a:off x="8630036" y="4108118"/>
            <a:ext cx="1" cy="28956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5" name="Rounded Rectangle 44"/>
          <p:cNvSpPr/>
          <p:nvPr/>
        </p:nvSpPr>
        <p:spPr>
          <a:xfrm>
            <a:off x="4470633" y="4976227"/>
            <a:ext cx="2117259" cy="682676"/>
          </a:xfrm>
          <a:prstGeom prst="round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1400" b="1" dirty="0" smtClean="0">
                <a:solidFill>
                  <a:schemeClr val="tx1"/>
                </a:solidFill>
                <a:latin typeface="Times New Roman" panose="02020603050405020304" pitchFamily="18" charset="0"/>
                <a:cs typeface="Times New Roman" panose="02020603050405020304" pitchFamily="18" charset="0"/>
              </a:rPr>
              <a:t>TEST DATA </a:t>
            </a:r>
          </a:p>
          <a:p>
            <a:pPr algn="ctr"/>
            <a:r>
              <a:rPr lang="en-IN" sz="1400" b="1" dirty="0" smtClean="0">
                <a:solidFill>
                  <a:srgbClr val="FF0000"/>
                </a:solidFill>
                <a:latin typeface="Times New Roman" panose="02020603050405020304" pitchFamily="18" charset="0"/>
                <a:cs typeface="Times New Roman" panose="02020603050405020304" pitchFamily="18" charset="0"/>
              </a:rPr>
              <a:t>HONEYPOT  </a:t>
            </a:r>
            <a:r>
              <a:rPr lang="en-IN" sz="1400" b="1" dirty="0" smtClean="0">
                <a:solidFill>
                  <a:srgbClr val="FF0000"/>
                </a:solidFill>
                <a:latin typeface="Times New Roman" panose="02020603050405020304" pitchFamily="18" charset="0"/>
                <a:cs typeface="Times New Roman" panose="02020603050405020304" pitchFamily="18" charset="0"/>
              </a:rPr>
              <a:t>DETECTION </a:t>
            </a:r>
            <a:endParaRPr lang="en-IN" sz="1400" b="1" dirty="0">
              <a:solidFill>
                <a:srgbClr val="FF0000"/>
              </a:solidFill>
              <a:latin typeface="Times New Roman" panose="02020603050405020304" pitchFamily="18" charset="0"/>
              <a:cs typeface="Times New Roman" panose="02020603050405020304" pitchFamily="18" charset="0"/>
            </a:endParaRPr>
          </a:p>
        </p:txBody>
      </p:sp>
      <p:cxnSp>
        <p:nvCxnSpPr>
          <p:cNvPr id="47" name="Elbow Connector 46"/>
          <p:cNvCxnSpPr>
            <a:stCxn id="43" idx="1"/>
            <a:endCxn id="45" idx="0"/>
          </p:cNvCxnSpPr>
          <p:nvPr/>
        </p:nvCxnSpPr>
        <p:spPr>
          <a:xfrm rot="10800000" flipV="1">
            <a:off x="5529263" y="4739023"/>
            <a:ext cx="2042144" cy="237204"/>
          </a:xfrm>
          <a:prstGeom prst="bentConnector2">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57" name="Rounded Rectangle 56"/>
          <p:cNvSpPr/>
          <p:nvPr/>
        </p:nvSpPr>
        <p:spPr>
          <a:xfrm>
            <a:off x="7571406" y="5374695"/>
            <a:ext cx="2117259" cy="682676"/>
          </a:xfrm>
          <a:prstGeom prst="round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1400" b="1" dirty="0" smtClean="0">
                <a:solidFill>
                  <a:schemeClr val="tx1"/>
                </a:solidFill>
                <a:latin typeface="Times New Roman" panose="02020603050405020304" pitchFamily="18" charset="0"/>
                <a:cs typeface="Times New Roman" panose="02020603050405020304" pitchFamily="18" charset="0"/>
              </a:rPr>
              <a:t>ML</a:t>
            </a:r>
            <a:endParaRPr lang="en-IN" sz="1400" b="1" dirty="0">
              <a:solidFill>
                <a:srgbClr val="FF0000"/>
              </a:solidFill>
              <a:latin typeface="Times New Roman" panose="02020603050405020304" pitchFamily="18" charset="0"/>
              <a:cs typeface="Times New Roman" panose="02020603050405020304" pitchFamily="18" charset="0"/>
            </a:endParaRPr>
          </a:p>
        </p:txBody>
      </p:sp>
      <p:cxnSp>
        <p:nvCxnSpPr>
          <p:cNvPr id="58" name="Straight Arrow Connector 57"/>
          <p:cNvCxnSpPr/>
          <p:nvPr/>
        </p:nvCxnSpPr>
        <p:spPr>
          <a:xfrm>
            <a:off x="8630034" y="5099150"/>
            <a:ext cx="1" cy="28956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9" name="Oval 58"/>
          <p:cNvSpPr/>
          <p:nvPr/>
        </p:nvSpPr>
        <p:spPr>
          <a:xfrm>
            <a:off x="5272488" y="5886938"/>
            <a:ext cx="791784" cy="62779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64" name="Straight Arrow Connector 63"/>
          <p:cNvCxnSpPr>
            <a:endCxn id="59" idx="0"/>
          </p:cNvCxnSpPr>
          <p:nvPr/>
        </p:nvCxnSpPr>
        <p:spPr>
          <a:xfrm>
            <a:off x="5668379" y="5659976"/>
            <a:ext cx="1" cy="226962"/>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66" name="Rounded Rectangle 65"/>
          <p:cNvSpPr/>
          <p:nvPr/>
        </p:nvSpPr>
        <p:spPr>
          <a:xfrm>
            <a:off x="1170605" y="4416474"/>
            <a:ext cx="1500040" cy="682676"/>
          </a:xfrm>
          <a:prstGeom prst="round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smtClean="0">
                <a:solidFill>
                  <a:schemeClr val="tx1"/>
                </a:solidFill>
                <a:latin typeface="Times New Roman" panose="02020603050405020304" pitchFamily="18" charset="0"/>
                <a:cs typeface="Times New Roman" panose="02020603050405020304" pitchFamily="18" charset="0"/>
              </a:rPr>
              <a:t>NORMALIZATION </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67" name="Rounded Rectangle 66"/>
          <p:cNvSpPr/>
          <p:nvPr/>
        </p:nvSpPr>
        <p:spPr>
          <a:xfrm>
            <a:off x="2848228" y="4439918"/>
            <a:ext cx="1423152" cy="682676"/>
          </a:xfrm>
          <a:prstGeom prst="round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smtClean="0">
                <a:solidFill>
                  <a:schemeClr val="tx1"/>
                </a:solidFill>
                <a:latin typeface="Times New Roman" panose="02020603050405020304" pitchFamily="18" charset="0"/>
                <a:cs typeface="Times New Roman" panose="02020603050405020304" pitchFamily="18" charset="0"/>
              </a:rPr>
              <a:t>NLP </a:t>
            </a:r>
            <a:endParaRPr lang="en-IN" sz="1400" b="1" dirty="0">
              <a:solidFill>
                <a:schemeClr val="tx1"/>
              </a:solidFill>
              <a:latin typeface="Times New Roman" panose="02020603050405020304" pitchFamily="18" charset="0"/>
              <a:cs typeface="Times New Roman" panose="02020603050405020304" pitchFamily="18" charset="0"/>
            </a:endParaRPr>
          </a:p>
        </p:txBody>
      </p:sp>
      <p:cxnSp>
        <p:nvCxnSpPr>
          <p:cNvPr id="72" name="Straight Arrow Connector 71"/>
          <p:cNvCxnSpPr/>
          <p:nvPr/>
        </p:nvCxnSpPr>
        <p:spPr>
          <a:xfrm>
            <a:off x="2236588" y="4117221"/>
            <a:ext cx="1" cy="28956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73" name="Straight Arrow Connector 72"/>
          <p:cNvCxnSpPr/>
          <p:nvPr/>
        </p:nvCxnSpPr>
        <p:spPr>
          <a:xfrm>
            <a:off x="3551546" y="4128943"/>
            <a:ext cx="1" cy="289567"/>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9905046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MODULES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690688"/>
            <a:ext cx="11658600" cy="4938712"/>
          </a:xfrm>
        </p:spPr>
        <p:txBody>
          <a:bodyPr>
            <a:normAutofit/>
          </a:bodyPr>
          <a:lstStyle/>
          <a:p>
            <a:pPr marL="342900" lvl="0" indent="-342900">
              <a:lnSpc>
                <a:spcPct val="200000"/>
              </a:lnSpc>
              <a:buFont typeface="+mj-lt"/>
              <a:buAutoNum type="arabicPeriod"/>
            </a:pPr>
            <a:r>
              <a:rPr lang="en-US" sz="1800" dirty="0" smtClean="0">
                <a:latin typeface="Times New Roman" panose="02020603050405020304" pitchFamily="18" charset="0"/>
                <a:cs typeface="Times New Roman" panose="02020603050405020304" pitchFamily="18" charset="0"/>
              </a:rPr>
              <a:t>Data </a:t>
            </a:r>
            <a:r>
              <a:rPr lang="en-US" sz="1800" dirty="0">
                <a:latin typeface="Times New Roman" panose="02020603050405020304" pitchFamily="18" charset="0"/>
                <a:cs typeface="Times New Roman" panose="02020603050405020304" pitchFamily="18" charset="0"/>
              </a:rPr>
              <a:t>Insight </a:t>
            </a:r>
            <a:r>
              <a:rPr lang="en-US" sz="1800" dirty="0" smtClean="0">
                <a:latin typeface="Times New Roman" panose="02020603050405020304" pitchFamily="18" charset="0"/>
                <a:cs typeface="Times New Roman" panose="02020603050405020304" pitchFamily="18" charset="0"/>
              </a:rPr>
              <a:t>Gatherer</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and Refiner</a:t>
            </a:r>
          </a:p>
          <a:p>
            <a:pPr marL="342900" lvl="0" indent="-342900">
              <a:lnSpc>
                <a:spcPct val="200000"/>
              </a:lnSpc>
              <a:buFont typeface="+mj-lt"/>
              <a:buAutoNum type="arabicPeriod"/>
            </a:pPr>
            <a:r>
              <a:rPr lang="en-US" sz="1800" dirty="0">
                <a:latin typeface="Times New Roman" panose="02020603050405020304" pitchFamily="18" charset="0"/>
                <a:cs typeface="Times New Roman" panose="02020603050405020304" pitchFamily="18" charset="0"/>
              </a:rPr>
              <a:t> Data </a:t>
            </a:r>
            <a:r>
              <a:rPr lang="en-US" sz="1800" dirty="0" smtClean="0">
                <a:latin typeface="Times New Roman" panose="02020603050405020304" pitchFamily="18" charset="0"/>
                <a:cs typeface="Times New Roman" panose="02020603050405020304" pitchFamily="18" charset="0"/>
              </a:rPr>
              <a:t>Partitioning(Train and Test)</a:t>
            </a:r>
          </a:p>
          <a:p>
            <a:pPr marL="342900" lvl="0" indent="-342900">
              <a:lnSpc>
                <a:spcPct val="200000"/>
              </a:lnSpc>
              <a:buFont typeface="+mj-lt"/>
              <a:buAutoNum type="arabicPeriod"/>
            </a:pPr>
            <a:r>
              <a:rPr lang="en-US" sz="1800" dirty="0" smtClean="0">
                <a:latin typeface="Times New Roman" panose="02020603050405020304" pitchFamily="18" charset="0"/>
                <a:cs typeface="Times New Roman" panose="02020603050405020304" pitchFamily="18" charset="0"/>
              </a:rPr>
              <a:t>Model Training</a:t>
            </a:r>
          </a:p>
          <a:p>
            <a:pPr marL="342900" lvl="0" indent="-342900">
              <a:lnSpc>
                <a:spcPct val="200000"/>
              </a:lnSpc>
              <a:buFont typeface="+mj-lt"/>
              <a:buAutoNum type="arabicPeriod"/>
            </a:pPr>
            <a:r>
              <a:rPr lang="en-US" sz="1800" dirty="0" smtClean="0">
                <a:latin typeface="Times New Roman" panose="02020603050405020304" pitchFamily="18" charset="0"/>
                <a:cs typeface="Times New Roman" panose="02020603050405020304" pitchFamily="18" charset="0"/>
              </a:rPr>
              <a:t> Anticipation (pred)</a:t>
            </a:r>
            <a:endParaRPr lang="en-IN" sz="1800" dirty="0">
              <a:latin typeface="Times New Roman" panose="02020603050405020304" pitchFamily="18" charset="0"/>
              <a:cs typeface="Times New Roman" panose="02020603050405020304" pitchFamily="18" charset="0"/>
            </a:endParaRPr>
          </a:p>
          <a:p>
            <a:pPr marL="342900" lvl="0" indent="-342900">
              <a:lnSpc>
                <a:spcPct val="200000"/>
              </a:lnSpc>
              <a:buFont typeface="+mj-lt"/>
              <a:buAutoNum type="arabicPeriod"/>
            </a:pPr>
            <a:r>
              <a:rPr lang="en-US" sz="1800" dirty="0">
                <a:latin typeface="Times New Roman" panose="02020603050405020304" pitchFamily="18" charset="0"/>
                <a:cs typeface="Times New Roman" panose="02020603050405020304" pitchFamily="18" charset="0"/>
              </a:rPr>
              <a:t>Metrics Analyzer</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6294188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SYSTEM REQUIREMENT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lnSpc>
                <a:spcPct val="200000"/>
              </a:lnSpc>
            </a:pPr>
            <a:r>
              <a:rPr lang="en-IN" sz="2000" b="1" u="sng" dirty="0" smtClean="0">
                <a:latin typeface="Times New Roman" panose="02020603050405020304" pitchFamily="18" charset="0"/>
                <a:cs typeface="Times New Roman" panose="02020603050405020304" pitchFamily="18" charset="0"/>
              </a:rPr>
              <a:t>SOFTWARE REQUIREMENTS</a:t>
            </a:r>
            <a:endParaRPr lang="en-IN" sz="1800" u="sng" dirty="0" smtClean="0">
              <a:latin typeface="Times New Roman" panose="02020603050405020304" pitchFamily="18" charset="0"/>
              <a:cs typeface="Times New Roman" panose="02020603050405020304" pitchFamily="18" charset="0"/>
            </a:endParaRPr>
          </a:p>
          <a:p>
            <a:pPr lvl="0" algn="just">
              <a:lnSpc>
                <a:spcPct val="200000"/>
              </a:lnSpc>
            </a:pPr>
            <a:r>
              <a:rPr lang="en-IN" sz="1800" dirty="0">
                <a:latin typeface="Times New Roman" panose="02020603050405020304" pitchFamily="18" charset="0"/>
                <a:cs typeface="Times New Roman" panose="02020603050405020304" pitchFamily="18" charset="0"/>
              </a:rPr>
              <a:t>•	O/S                  	 :  </a:t>
            </a:r>
            <a:r>
              <a:rPr lang="en-IN" sz="1800" dirty="0" smtClean="0">
                <a:latin typeface="Times New Roman" panose="02020603050405020304" pitchFamily="18" charset="0"/>
                <a:cs typeface="Times New Roman" panose="02020603050405020304" pitchFamily="18" charset="0"/>
              </a:rPr>
              <a:t>Windows </a:t>
            </a:r>
            <a:endParaRPr lang="en-IN" sz="1800" dirty="0">
              <a:latin typeface="Times New Roman" panose="02020603050405020304" pitchFamily="18" charset="0"/>
              <a:cs typeface="Times New Roman" panose="02020603050405020304" pitchFamily="18" charset="0"/>
            </a:endParaRPr>
          </a:p>
          <a:p>
            <a:pPr lvl="0" algn="just">
              <a:lnSpc>
                <a:spcPct val="200000"/>
              </a:lnSpc>
            </a:pPr>
            <a:r>
              <a:rPr lang="en-IN" sz="1800" dirty="0">
                <a:latin typeface="Times New Roman" panose="02020603050405020304" pitchFamily="18" charset="0"/>
                <a:cs typeface="Times New Roman" panose="02020603050405020304" pitchFamily="18" charset="0"/>
              </a:rPr>
              <a:t>•	Language	      	 :  Python</a:t>
            </a:r>
          </a:p>
          <a:p>
            <a:pPr lvl="0" algn="just">
              <a:lnSpc>
                <a:spcPct val="200000"/>
              </a:lnSpc>
            </a:pPr>
            <a:r>
              <a:rPr lang="en-IN" sz="1800" dirty="0">
                <a:latin typeface="Times New Roman" panose="02020603050405020304" pitchFamily="18" charset="0"/>
                <a:cs typeface="Times New Roman" panose="02020603050405020304" pitchFamily="18" charset="0"/>
              </a:rPr>
              <a:t>•	Front End                : </a:t>
            </a:r>
            <a:r>
              <a:rPr lang="en-IN" sz="1800" dirty="0" err="1" smtClean="0">
                <a:latin typeface="Times New Roman" panose="02020603050405020304" pitchFamily="18" charset="0"/>
                <a:cs typeface="Times New Roman" panose="02020603050405020304" pitchFamily="18" charset="0"/>
              </a:rPr>
              <a:t>Spyder</a:t>
            </a:r>
            <a:r>
              <a:rPr lang="en-IN" sz="1800" dirty="0" smtClean="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algn="just">
              <a:lnSpc>
                <a:spcPct val="20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820943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SYSTEM REQUIREMENT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003" y="1690688"/>
            <a:ext cx="11505060" cy="4938712"/>
          </a:xfrm>
        </p:spPr>
        <p:txBody>
          <a:bodyPr>
            <a:normAutofit/>
          </a:bodyPr>
          <a:lstStyle/>
          <a:p>
            <a:pPr marL="0" indent="0" algn="just">
              <a:lnSpc>
                <a:spcPct val="200000"/>
              </a:lnSpc>
              <a:buNone/>
            </a:pPr>
            <a:r>
              <a:rPr lang="en-IN" sz="2000" b="1" u="sng" dirty="0" smtClean="0">
                <a:latin typeface="Times New Roman" panose="02020603050405020304" pitchFamily="18" charset="0"/>
                <a:cs typeface="Times New Roman" panose="02020603050405020304" pitchFamily="18" charset="0"/>
              </a:rPr>
              <a:t>SOFTWARE REQUIREMENTS</a:t>
            </a:r>
            <a:endParaRPr lang="en-IN" sz="1800" u="sng"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System	        :   Pentium IV 2.4 GHz </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Hard Disk     </a:t>
            </a:r>
            <a:r>
              <a:rPr lang="en-IN" sz="1800" dirty="0" smtClean="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200 GB</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Mouse	      </a:t>
            </a:r>
            <a:r>
              <a:rPr lang="en-IN" sz="1800" dirty="0" smtClean="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Logitech.</a:t>
            </a:r>
          </a:p>
          <a:p>
            <a:pPr lvl="0"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Keyboard     </a:t>
            </a:r>
            <a:r>
              <a:rPr lang="en-IN" sz="1800" dirty="0">
                <a:latin typeface="Times New Roman" panose="02020603050405020304" pitchFamily="18" charset="0"/>
                <a:cs typeface="Times New Roman" panose="02020603050405020304" pitchFamily="18" charset="0"/>
              </a:rPr>
              <a:t>:   110 keys enhanced</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Ram	         </a:t>
            </a:r>
            <a:r>
              <a:rPr lang="en-IN" sz="1800" dirty="0" smtClean="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4GB</a:t>
            </a:r>
          </a:p>
          <a:p>
            <a:pPr algn="just">
              <a:lnSpc>
                <a:spcPct val="20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8788441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smtClean="0">
                <a:latin typeface="Times New Roman" panose="02020603050405020304" pitchFamily="18" charset="0"/>
                <a:cs typeface="Times New Roman" panose="02020603050405020304" pitchFamily="18" charset="0"/>
              </a:rPr>
              <a:t>CONCLUSION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003" y="1690688"/>
            <a:ext cx="11505060" cy="4938712"/>
          </a:xfrm>
        </p:spPr>
        <p:txBody>
          <a:bodyPr>
            <a:normAutofit lnSpcReduction="10000"/>
          </a:bodyPr>
          <a:lstStyle/>
          <a:p>
            <a:pPr algn="just">
              <a:lnSpc>
                <a:spcPct val="150000"/>
              </a:lnSpc>
            </a:pPr>
            <a:r>
              <a:rPr lang="en-US" sz="1800" dirty="0">
                <a:latin typeface="Times New Roman" panose="02020603050405020304" pitchFamily="18" charset="0"/>
                <a:cs typeface="Times New Roman" panose="02020603050405020304" pitchFamily="18" charset="0"/>
              </a:rPr>
              <a:t>The AI-powered honeypot system for advanced threat detection and analysis presents an innovative and robust solution for improving network security. By leveraging machine learning algorithms, particularly deep learning techniques like Convolutional Neural Networks (CNN), the system is capable of detecting and classifying various network intrusions with high accuracy. The integration of simulation modules that mimic real-world attacks, such as port scanning and brute force attempts, provides a realistic training ground for the detection system, ensuring that the model is well-equipped to handle live attack scenarios. Moreover, the use of </a:t>
            </a:r>
            <a:r>
              <a:rPr lang="en-US" sz="1800" dirty="0" err="1">
                <a:latin typeface="Times New Roman" panose="02020603050405020304" pitchFamily="18" charset="0"/>
                <a:cs typeface="Times New Roman" panose="02020603050405020304" pitchFamily="18" charset="0"/>
              </a:rPr>
              <a:t>autoencoders</a:t>
            </a:r>
            <a:r>
              <a:rPr lang="en-US" sz="1800" dirty="0">
                <a:latin typeface="Times New Roman" panose="02020603050405020304" pitchFamily="18" charset="0"/>
                <a:cs typeface="Times New Roman" panose="02020603050405020304" pitchFamily="18" charset="0"/>
              </a:rPr>
              <a:t> for feature extraction reduces the data dimensionality, thereby increasing processing efficiency and reducing noise in the dataset</a:t>
            </a: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However, the effectiveness of the honeypot system also depends on continuous monitoring and updating, especially given the ever-evolving nature of cyber threats. The system has shown significant promise in detecting known and novel attacks, but there is always room for improvement in terms of real-time detection and response time. By continuously adapting the model to emerging threats, the system can evolve to provide an even higher level of security for networks, ultimately contributing to a safer digital ecosystem.</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536578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FUTURE ENCHANCEMENT </a:t>
            </a:r>
            <a:endParaRPr lang="en-IN" sz="3600" dirty="0"/>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IN" sz="1800" dirty="0">
                <a:latin typeface="Times New Roman" panose="02020603050405020304" pitchFamily="18" charset="0"/>
                <a:cs typeface="Times New Roman" panose="02020603050405020304" pitchFamily="18" charset="0"/>
              </a:rPr>
              <a:t>In the future, one key enhancement for the AI-powered honeypot system would be to implement adaptive learning capabilities. This would allow the system to adjust its detection parameters dynamically based on the evolving nature of cyber-attacks. By integrating reinforcement learning techniques, the system could continuously refine its detection models by learning from real-world attack data, thus becoming more effective over time. Furthermore, integrating the system with other security tools such as Intrusion Prevention Systems (IPS) and Security Information and Event Management (SIEM) platforms could improve its overall threat response time and provide a more comprehensive security framework</a:t>
            </a:r>
            <a:r>
              <a:rPr lang="en-IN"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pPr>
            <a:r>
              <a:rPr lang="en-IN" sz="1800" dirty="0">
                <a:latin typeface="Times New Roman" panose="02020603050405020304" pitchFamily="18" charset="0"/>
                <a:cs typeface="Times New Roman" panose="02020603050405020304" pitchFamily="18" charset="0"/>
              </a:rPr>
              <a:t>Additionally, enhancing the system's scalability and deployment capabilities is crucial for handling larger, more complex networks. Future versions of the system could incorporate cloud-based architectures and distributed honeypots to scale horizontally, allowing the system to monitor more extensive networks in real-time. Furthermore, improving the system's ability to detect advanced persistent threats (APTs) and zero-day attacks, which often use novel methods to bypass traditional detection systems, will be a critical step in strengthening the overall security posture of the system.</a:t>
            </a:r>
          </a:p>
          <a:p>
            <a:pPr algn="just">
              <a:lnSpc>
                <a:spcPct val="150000"/>
              </a:lnSpc>
            </a:pPr>
            <a:r>
              <a:rPr lang="en-IN" sz="1800" dirty="0">
                <a:latin typeface="Times New Roman" panose="02020603050405020304" pitchFamily="18" charset="0"/>
                <a:cs typeface="Times New Roman" panose="02020603050405020304" pitchFamily="18" charset="0"/>
              </a:rPr>
              <a:t>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8883141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REFERENCE PAPER </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356349" y="1569857"/>
            <a:ext cx="11479302" cy="4197559"/>
          </a:xfrm>
          <a:prstGeom prst="rect">
            <a:avLst/>
          </a:prstGeom>
        </p:spPr>
        <p:txBody>
          <a:bodyPr wrap="square">
            <a:spAutoFit/>
          </a:bodyPr>
          <a:lstStyle/>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"AI-Driven Intrusion Detection Systems: An Overview and Comparative Study" - 2024</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"Convolutional Neural Networks for </a:t>
            </a:r>
            <a:r>
              <a:rPr lang="en-IN" dirty="0" err="1">
                <a:latin typeface="Times New Roman" panose="02020603050405020304" pitchFamily="18" charset="0"/>
                <a:cs typeface="Times New Roman" panose="02020603050405020304" pitchFamily="18" charset="0"/>
              </a:rPr>
              <a:t>Cybersecurity</a:t>
            </a:r>
            <a:r>
              <a:rPr lang="en-IN" dirty="0">
                <a:latin typeface="Times New Roman" panose="02020603050405020304" pitchFamily="18" charset="0"/>
                <a:cs typeface="Times New Roman" panose="02020603050405020304" pitchFamily="18" charset="0"/>
              </a:rPr>
              <a:t>: A Review" - 2024</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"Machine Learning in Honeypot Systems for Intrusion Detection" - 2023</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"A Comprehensive Survey on Honeypots and Security Monitoring" - 2023</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"Deep Learning Techniques for Anomaly Detection in Network Traffic" - 2024</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"Comparative Analysis of Machine Learning Algorithms in </a:t>
            </a:r>
            <a:r>
              <a:rPr lang="en-IN" dirty="0" err="1">
                <a:latin typeface="Times New Roman" panose="02020603050405020304" pitchFamily="18" charset="0"/>
                <a:cs typeface="Times New Roman" panose="02020603050405020304" pitchFamily="18" charset="0"/>
              </a:rPr>
              <a:t>Cybersecurity</a:t>
            </a:r>
            <a:r>
              <a:rPr lang="en-IN" dirty="0">
                <a:latin typeface="Times New Roman" panose="02020603050405020304" pitchFamily="18" charset="0"/>
                <a:cs typeface="Times New Roman" panose="02020603050405020304" pitchFamily="18" charset="0"/>
              </a:rPr>
              <a:t>" - 2023</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"Enhanced </a:t>
            </a:r>
            <a:r>
              <a:rPr lang="en-IN" dirty="0" err="1">
                <a:latin typeface="Times New Roman" panose="02020603050405020304" pitchFamily="18" charset="0"/>
                <a:cs typeface="Times New Roman" panose="02020603050405020304" pitchFamily="18" charset="0"/>
              </a:rPr>
              <a:t>Cybersecurity</a:t>
            </a:r>
            <a:r>
              <a:rPr lang="en-IN" dirty="0">
                <a:latin typeface="Times New Roman" panose="02020603050405020304" pitchFamily="18" charset="0"/>
                <a:cs typeface="Times New Roman" panose="02020603050405020304" pitchFamily="18" charset="0"/>
              </a:rPr>
              <a:t> with AI-Powered Threat Detection" - 2023</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"Application of </a:t>
            </a:r>
            <a:r>
              <a:rPr lang="en-IN" dirty="0" err="1">
                <a:latin typeface="Times New Roman" panose="02020603050405020304" pitchFamily="18" charset="0"/>
                <a:cs typeface="Times New Roman" panose="02020603050405020304" pitchFamily="18" charset="0"/>
              </a:rPr>
              <a:t>Autoencoders</a:t>
            </a:r>
            <a:r>
              <a:rPr lang="en-IN" dirty="0">
                <a:latin typeface="Times New Roman" panose="02020603050405020304" pitchFamily="18" charset="0"/>
                <a:cs typeface="Times New Roman" panose="02020603050405020304" pitchFamily="18" charset="0"/>
              </a:rPr>
              <a:t> for Network Intrusion Detection" - 2023</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"Next-Generation Honeypot Systems for Advanced Threat Detection" - 2023</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"Real-time Network Intrusion Detection Using Deep Learning" - 2024</a:t>
            </a:r>
          </a:p>
        </p:txBody>
      </p:sp>
    </p:spTree>
    <p:extLst>
      <p:ext uri="{BB962C8B-B14F-4D97-AF65-F5344CB8AC3E}">
        <p14:creationId xmlns:p14="http://schemas.microsoft.com/office/powerpoint/2010/main" val="900380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5731"/>
            <a:ext cx="10515600" cy="1325563"/>
          </a:xfrm>
        </p:spPr>
        <p:txBody>
          <a:bodyPr>
            <a:normAutofit fontScale="90000"/>
          </a:bodyPr>
          <a:lstStyle/>
          <a:p>
            <a:pPr algn="ctr"/>
            <a:r>
              <a:rPr lang="en-US" sz="5200" b="1" dirty="0" smtClean="0">
                <a:latin typeface="Times New Roman" panose="02020603050405020304" pitchFamily="18" charset="0"/>
                <a:cs typeface="Times New Roman" panose="02020603050405020304" pitchFamily="18" charset="0"/>
              </a:rPr>
              <a:t>Thank You</a:t>
            </a:r>
            <a:r>
              <a:rPr lang="en-US" sz="5200" b="1" dirty="0">
                <a:latin typeface="Times New Roman" panose="02020603050405020304" pitchFamily="18" charset="0"/>
                <a:cs typeface="Times New Roman" panose="02020603050405020304" pitchFamily="18" charset="0"/>
              </a:rPr>
              <a:t>…</a:t>
            </a:r>
            <a:br>
              <a:rPr lang="en-US" sz="5200" b="1" dirty="0">
                <a:latin typeface="Times New Roman" panose="02020603050405020304" pitchFamily="18" charset="0"/>
                <a:cs typeface="Times New Roman" panose="02020603050405020304" pitchFamily="18" charset="0"/>
              </a:rPr>
            </a:br>
            <a:endParaRPr lang="en-IN" sz="52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976344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1784</TotalTime>
  <Words>2223</Words>
  <Application>Microsoft Office PowerPoint</Application>
  <PresentationFormat>Widescreen</PresentationFormat>
  <Paragraphs>257</Paragraphs>
  <Slides>28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  AI POWERED HONEYPOTS FOR ADVANCE THREAT DETECTION AND ANALYSIS</vt:lpstr>
      <vt:lpstr>PowerPoint Presentation</vt:lpstr>
      <vt:lpstr>ABSTRACT</vt:lpstr>
      <vt:lpstr>DOMAIN INTRODUCTION </vt:lpstr>
      <vt:lpstr>INTRODUCTION </vt:lpstr>
      <vt:lpstr>OBJECTIVES</vt:lpstr>
      <vt:lpstr>PROBLEM STATEMENT </vt:lpstr>
      <vt:lpstr>SCOPE OF PROJECT </vt:lpstr>
      <vt:lpstr>ALGORITHM </vt:lpstr>
      <vt:lpstr>EXISTING SYSTEM </vt:lpstr>
      <vt:lpstr>DISADVANTAGE </vt:lpstr>
      <vt:lpstr>PROPOSED SYSTEM </vt:lpstr>
      <vt:lpstr>ADVANTAGE </vt:lpstr>
      <vt:lpstr>PowerPoint Presentation</vt:lpstr>
      <vt:lpstr>PowerPoint Presentation</vt:lpstr>
      <vt:lpstr>PowerPoint Presentation</vt:lpstr>
      <vt:lpstr>SYSTEM ARCHITECTURE </vt:lpstr>
      <vt:lpstr>USECASE- DIAGRAM </vt:lpstr>
      <vt:lpstr>ER ARCHITECTURE </vt:lpstr>
      <vt:lpstr>SEQUENCE DIAGRAM </vt:lpstr>
      <vt:lpstr>ACTIVITY DIAGRAM </vt:lpstr>
      <vt:lpstr>MODULES</vt:lpstr>
      <vt:lpstr>SYSTEM REQUIREMENT </vt:lpstr>
      <vt:lpstr>SYSTEM REQUIREMENT </vt:lpstr>
      <vt:lpstr>CONCLUSION </vt:lpstr>
      <vt:lpstr>FUTURE ENCHANCEMENT </vt:lpstr>
      <vt:lpstr>REFERENCE PAPER </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method for flow-based network intrusion detection using the inverse Potts model </dc:title>
  <dc:creator>EGC</dc:creator>
  <cp:lastModifiedBy>Epro</cp:lastModifiedBy>
  <cp:revision>303</cp:revision>
  <dcterms:created xsi:type="dcterms:W3CDTF">2021-12-17T07:36:29Z</dcterms:created>
  <dcterms:modified xsi:type="dcterms:W3CDTF">2025-05-03T06:23:33Z</dcterms:modified>
</cp:coreProperties>
</file>